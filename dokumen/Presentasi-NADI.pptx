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Sebutkan sejak awal: seluruh data yang akan ditampilkan bersifat sintetis, dikalibrasi terhadap angka resmi BPS. Ini bukan data keluarga nyata.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Jangan buru-buru. Salindia berikutnya adalah inti presentasi ini.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 utamanya: pengeluaran keluarga ini SELALU di bawah garis kemiskinan, tetapi desil yang tercatat berubah-ubah 1-2-2-3-3-1. Ketika tercatat desil 3, ia tidak masuk prioritas program mana pun — padahal saat itu pengeluarannya justru paling rendah, Rp394.498. Catatannya yang berubah, bukan keadaannya.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Angka pertama dan kedua dibaca langsung dari basis data. Angka ketiga berasal dari hasil verifikasi lapangan yang tercatat — dan sengaja ditampilkan, karena sistem yang mengaku selalu benar tidak layak dipercaya.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Butir terakhir yang paling penting. Kesalahan memasukkan orang yang tidak berhak membebani anggaran, dan itu terlihat. Kesalahan melewatkan membebani keluarga itu sendiri, dan itu tidak terlihat.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Ucapkan kolom kiri LEBIH DAHULU dan pelan-pelan. Sebagian besar keberatan terhadap AI pada layanan publik berakar pada kekhawatiran bahwa mesin mengambil alih keputusan. Menjawabnya sebelum ditanya mengubah seluruh nada penilaian berikutnya.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Tekankan langkah kelima. Sistem yang tidak dapat mengakui dirinya salah tidak akan pernah membaik.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Buka aplikasi di http://127.0.0.1:8000/peta, ambil tangkapan layar, lalu sisipkan menggantikan bingkai ini.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Yang paling meyakinkan untuk ditunjukkan: klik satu kasus sampai terlihat penjelasan per keluarga. Itu yang membedakan dari dasbor biasa.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Jangan mulai dari AUC. Kepala dinas tidak bertanya berapa AUC-nya; ia bertanya berapa yang tepat sasaran kalau tenaganya terbatas. Jawabannya 77 persen, 7,3 kali lebih baik daripada acak.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 salindia yang paling saya sarankan untuk tidak dilewati. Mengakui kekeliruan sendiri di hadapan juri hampir selalu menguatkan. Ada tiga kebocoran data yang saya temukan dan perbaiki; ini salah satunya.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Inilah salindia yang paling membedakan karya ini. 68 persen terdengar hebat sampai orang melihat bahwa 45 persen keluarga sebanding juga membaik tanpa menerima apa pun. Bersedia menampilkan angka yang lebih kecil adalah bukti bahwa angka lainnya dapat dipercaya.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Percobaan yang paling meyakinkan untuk ditunjukkan langsung: masuk sebagai pimpinan daerah lalu coba buka satu keluarga — sistem menolak. Lalu masuk sebagai OPD, catat penyaluran, coba nilai hasilnya sendiri — juga ditolak.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Sebutkan urutan pengerjaannya: keamanan dibangun sebelum ada fitur yang dapat melanggarnya. Janji yang ditegakkan mesin berbeda dari janji yang ditulis pada dokumen.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Sebutkan urutannya: riset lebih dahulu, baru kode. Temuan risetnya membatalkan beberapa rancangan awal saya — dan itu justru gunanya.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Butir terakhir sengaja ada. Bila juri memeriksa data keluarga contoh, mereka akan menemukannya sendiri — dan jauh lebih baik bila mereka mendengarnya dari saya lebih dahulu.</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Sampaikan sebagai rencana yang realistis, bukan janji besar. Yang paling saya butuhkan sekarang bukan fitur tambahan, melainkan kesempatan menguji bersama petugas yang sesungguhnya.</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Berhenti di sini. Biarkan hening sejenak sebelum membuka sesi tanya jawab.</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84048" cy="6858000"/>
          </a:xfrm>
          <a:prstGeom prst="rect">
            <a:avLst/>
          </a:prstGeom>
          <a:solidFill>
            <a:srgbClr val="1E5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965960"/>
            <a:ext cx="9601200" cy="1371600"/>
          </a:xfrm>
          <a:prstGeom prst="rect">
            <a:avLst/>
          </a:prstGeom>
          <a:noFill/>
        </p:spPr>
        <p:txBody>
          <a:bodyPr wrap="square" anchor="t" lIns="0" rIns="0" tIns="0" bIns="0">
            <a:spAutoFit/>
          </a:bodyPr>
          <a:lstStyle/>
          <a:p>
            <a:pPr algn="l">
              <a:lnSpc>
                <a:spcPct val="115000"/>
              </a:lnSpc>
            </a:pPr>
            <a:r>
              <a:rPr sz="6400" b="1">
                <a:solidFill>
                  <a:srgbClr val="1E5A8F"/>
                </a:solidFill>
                <a:latin typeface="Segoe UI Semibold"/>
              </a:rPr>
              <a:t>NADI</a:t>
            </a:r>
          </a:p>
        </p:txBody>
      </p:sp>
      <p:sp>
        <p:nvSpPr>
          <p:cNvPr id="4" name="TextBox 3"/>
          <p:cNvSpPr txBox="1"/>
          <p:nvPr/>
        </p:nvSpPr>
        <p:spPr>
          <a:xfrm>
            <a:off x="1417320" y="3063240"/>
            <a:ext cx="9601200" cy="731520"/>
          </a:xfrm>
          <a:prstGeom prst="rect">
            <a:avLst/>
          </a:prstGeom>
          <a:noFill/>
        </p:spPr>
        <p:txBody>
          <a:bodyPr wrap="square" anchor="t" lIns="0" rIns="0" tIns="0" bIns="0">
            <a:spAutoFit/>
          </a:bodyPr>
          <a:lstStyle/>
          <a:p>
            <a:pPr algn="l">
              <a:lnSpc>
                <a:spcPct val="115000"/>
              </a:lnSpc>
            </a:pPr>
            <a:r>
              <a:rPr sz="2200" b="0">
                <a:solidFill>
                  <a:srgbClr val="475569"/>
                </a:solidFill>
                <a:latin typeface="Segoe UI"/>
              </a:rPr>
              <a:t>Navigasi AI Data Intervensi</a:t>
            </a:r>
          </a:p>
        </p:txBody>
      </p:sp>
      <p:sp>
        <p:nvSpPr>
          <p:cNvPr id="5" name="TextBox 4"/>
          <p:cNvSpPr txBox="1"/>
          <p:nvPr/>
        </p:nvSpPr>
        <p:spPr>
          <a:xfrm>
            <a:off x="1417320" y="4480560"/>
            <a:ext cx="9601200" cy="1463040"/>
          </a:xfrm>
          <a:prstGeom prst="rect">
            <a:avLst/>
          </a:prstGeom>
          <a:noFill/>
        </p:spPr>
        <p:txBody>
          <a:bodyPr wrap="square" anchor="t" lIns="0" rIns="0" tIns="0" bIns="0">
            <a:spAutoFit/>
          </a:bodyPr>
          <a:lstStyle/>
          <a:p>
            <a:pPr algn="l">
              <a:lnSpc>
                <a:spcPct val="150000"/>
              </a:lnSpc>
            </a:pPr>
            <a:r>
              <a:rPr sz="1300" b="0">
                <a:solidFill>
                  <a:srgbClr val="94A3B8"/>
                </a:solidFill>
                <a:latin typeface="Segoe UI"/>
              </a:rPr>
              <a:t>Menemukan keluarga yang terlewat, sebelum mereka jatuh lebih dalam</a:t>
            </a:r>
          </a:p>
          <a:p>
            <a:pPr algn="l">
              <a:lnSpc>
                <a:spcPct val="150000"/>
              </a:lnSpc>
            </a:pPr>
            <a:r>
              <a:rPr sz="1300" b="0">
                <a:solidFill>
                  <a:srgbClr val="94A3B8"/>
                </a:solidFill>
                <a:latin typeface="Segoe UI"/>
              </a:rPr>
              <a:t/>
            </a:r>
          </a:p>
          <a:p>
            <a:pPr algn="l">
              <a:lnSpc>
                <a:spcPct val="150000"/>
              </a:lnSpc>
            </a:pPr>
            <a:r>
              <a:rPr sz="1300" b="0">
                <a:solidFill>
                  <a:srgbClr val="94A3B8"/>
                </a:solidFill>
                <a:latin typeface="Segoe UI"/>
              </a:rPr>
              <a:t>Roki Fauzi  ·  Pranata Komputer Ahli Pertama</a:t>
            </a:r>
          </a:p>
          <a:p>
            <a:pPr algn="l">
              <a:lnSpc>
                <a:spcPct val="150000"/>
              </a:lnSpc>
            </a:pPr>
            <a:r>
              <a:rPr sz="1300" b="0">
                <a:solidFill>
                  <a:srgbClr val="94A3B8"/>
                </a:solidFill>
                <a:latin typeface="Segoe UI"/>
              </a:rPr>
              <a:t>Diskominfo Kabupaten Pringsewu, Provinsi Lampung</a:t>
            </a:r>
          </a:p>
          <a:p>
            <a:pPr algn="l">
              <a:lnSpc>
                <a:spcPct val="150000"/>
              </a:lnSpc>
            </a:pPr>
            <a:r>
              <a:rPr sz="1300" b="0">
                <a:solidFill>
                  <a:srgbClr val="94A3B8"/>
                </a:solidFill>
                <a:latin typeface="Segoe UI"/>
              </a:rPr>
              <a:t>LAN Datathon 2026  ·  Penanggulangan kemiskinan berbasis data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E5A8F"/>
        </a:solidFill>
        <a:effectLst/>
      </p:bgPr>
    </p:bg>
    <p:spTree>
      <p:nvGrpSpPr>
        <p:cNvPr id="1" name=""/>
        <p:cNvGrpSpPr/>
        <p:nvPr/>
      </p:nvGrpSpPr>
      <p:grpSpPr/>
      <p:sp>
        <p:nvSpPr>
          <p:cNvPr id="2" name="TextBox 1"/>
          <p:cNvSpPr txBox="1"/>
          <p:nvPr/>
        </p:nvSpPr>
        <p:spPr>
          <a:xfrm>
            <a:off x="777240" y="2377440"/>
            <a:ext cx="1371600" cy="822960"/>
          </a:xfrm>
          <a:prstGeom prst="rect">
            <a:avLst/>
          </a:prstGeom>
          <a:noFill/>
        </p:spPr>
        <p:txBody>
          <a:bodyPr wrap="square" anchor="t" lIns="0" rIns="0" tIns="0" bIns="0">
            <a:spAutoFit/>
          </a:bodyPr>
          <a:lstStyle/>
          <a:p>
            <a:pPr algn="l">
              <a:lnSpc>
                <a:spcPct val="115000"/>
              </a:lnSpc>
            </a:pPr>
            <a:r>
              <a:rPr sz="5400" b="1">
                <a:solidFill>
                  <a:srgbClr val="7FA8CC"/>
                </a:solidFill>
                <a:latin typeface="Segoe UI Semibold"/>
              </a:rPr>
              <a:t>01</a:t>
            </a:r>
          </a:p>
        </p:txBody>
      </p:sp>
      <p:sp>
        <p:nvSpPr>
          <p:cNvPr id="3" name="TextBox 2"/>
          <p:cNvSpPr txBox="1"/>
          <p:nvPr/>
        </p:nvSpPr>
        <p:spPr>
          <a:xfrm>
            <a:off x="777240" y="3200400"/>
            <a:ext cx="10515600" cy="1097280"/>
          </a:xfrm>
          <a:prstGeom prst="rect">
            <a:avLst/>
          </a:prstGeom>
          <a:noFill/>
        </p:spPr>
        <p:txBody>
          <a:bodyPr wrap="square" anchor="t" lIns="0" rIns="0" tIns="0" bIns="0">
            <a:spAutoFit/>
          </a:bodyPr>
          <a:lstStyle/>
          <a:p>
            <a:pPr algn="l">
              <a:lnSpc>
                <a:spcPct val="115000"/>
              </a:lnSpc>
            </a:pPr>
            <a:r>
              <a:rPr sz="4000" b="1">
                <a:solidFill>
                  <a:srgbClr val="FFFFFF"/>
                </a:solidFill>
                <a:latin typeface="Segoe UI Semibold"/>
              </a:rPr>
              <a:t>Satu keluarga</a:t>
            </a:r>
          </a:p>
        </p:txBody>
      </p:sp>
      <p:sp>
        <p:nvSpPr>
          <p:cNvPr id="4" name="TextBox 3"/>
          <p:cNvSpPr txBox="1"/>
          <p:nvPr/>
        </p:nvSpPr>
        <p:spPr>
          <a:xfrm>
            <a:off x="777240" y="4343400"/>
            <a:ext cx="9601200" cy="731520"/>
          </a:xfrm>
          <a:prstGeom prst="rect">
            <a:avLst/>
          </a:prstGeom>
          <a:noFill/>
        </p:spPr>
        <p:txBody>
          <a:bodyPr wrap="square" anchor="t" lIns="0" rIns="0" tIns="0" bIns="0">
            <a:spAutoFit/>
          </a:bodyPr>
          <a:lstStyle/>
          <a:p>
            <a:pPr algn="l">
              <a:lnSpc>
                <a:spcPct val="115000"/>
              </a:lnSpc>
            </a:pPr>
            <a:r>
              <a:rPr sz="1700" b="0">
                <a:solidFill>
                  <a:srgbClr val="C7DAEE"/>
                </a:solidFill>
                <a:latin typeface="Segoe UI"/>
              </a:rPr>
              <a:t>Sebelum berbicara tentang sistem, mari lihat satu keluarga saja.</a:t>
            </a:r>
          </a:p>
        </p:txBody>
      </p:sp>
      <p:sp>
        <p:nvSpPr>
          <p:cNvPr id="5" name="TextBox 4"/>
          <p:cNvSpPr txBox="1"/>
          <p:nvPr/>
        </p:nvSpPr>
        <p:spPr>
          <a:xfrm>
            <a:off x="11094415" y="6355080"/>
            <a:ext cx="548640" cy="274320"/>
          </a:xfrm>
          <a:prstGeom prst="rect">
            <a:avLst/>
          </a:prstGeom>
          <a:noFill/>
        </p:spPr>
        <p:txBody>
          <a:bodyPr wrap="square" anchor="t" lIns="0" rIns="0" tIns="0" bIns="0">
            <a:spAutoFit/>
          </a:bodyPr>
          <a:lstStyle/>
          <a:p>
            <a:pPr algn="r">
              <a:lnSpc>
                <a:spcPct val="115000"/>
              </a:lnSpc>
            </a:pPr>
            <a:r>
              <a:rPr sz="1000" b="0">
                <a:solidFill>
                  <a:srgbClr val="94A3B8"/>
                </a:solidFill>
                <a:latin typeface="Segoe U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1E5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07040" cy="640080"/>
          </a:xfrm>
          <a:prstGeom prst="rect">
            <a:avLst/>
          </a:prstGeom>
          <a:noFill/>
        </p:spPr>
        <p:txBody>
          <a:bodyPr wrap="square" anchor="t" lIns="0" rIns="0" tIns="0" bIns="0">
            <a:spAutoFit/>
          </a:bodyPr>
          <a:lstStyle/>
          <a:p>
            <a:pPr algn="l">
              <a:lnSpc>
                <a:spcPct val="115000"/>
              </a:lnSpc>
            </a:pPr>
            <a:r>
              <a:rPr sz="2800" b="1">
                <a:solidFill>
                  <a:srgbClr val="1E5A8F"/>
                </a:solidFill>
                <a:latin typeface="Segoe UI Semibold"/>
              </a:rPr>
              <a:t>Pekon Sukamulya, Kecamatan Banyumas</a:t>
            </a:r>
          </a:p>
        </p:txBody>
      </p:sp>
      <p:sp>
        <p:nvSpPr>
          <p:cNvPr id="4" name="TextBox 3"/>
          <p:cNvSpPr txBox="1"/>
          <p:nvPr/>
        </p:nvSpPr>
        <p:spPr>
          <a:xfrm>
            <a:off x="777240" y="1207008"/>
            <a:ext cx="10607040" cy="457200"/>
          </a:xfrm>
          <a:prstGeom prst="rect">
            <a:avLst/>
          </a:prstGeom>
          <a:noFill/>
        </p:spPr>
        <p:txBody>
          <a:bodyPr wrap="square" anchor="t" lIns="0" rIns="0" tIns="0" bIns="0">
            <a:spAutoFit/>
          </a:bodyPr>
          <a:lstStyle/>
          <a:p>
            <a:pPr algn="l">
              <a:lnSpc>
                <a:spcPct val="115000"/>
              </a:lnSpc>
            </a:pPr>
            <a:r>
              <a:rPr sz="1400" b="0">
                <a:solidFill>
                  <a:srgbClr val="475569"/>
                </a:solidFill>
                <a:latin typeface="Segoe UI"/>
              </a:rPr>
              <a:t>Satu keluarga, diikuti tiga tahun. Kode semu KLG-WS65-ZCQR — sistem ini tidak menyimpan nama.</a:t>
            </a:r>
          </a:p>
        </p:txBody>
      </p:sp>
      <p:sp>
        <p:nvSpPr>
          <p:cNvPr id="5" name="TextBox 4"/>
          <p:cNvSpPr txBox="1"/>
          <p:nvPr/>
        </p:nvSpPr>
        <p:spPr>
          <a:xfrm>
            <a:off x="11094415" y="6355080"/>
            <a:ext cx="548640" cy="274320"/>
          </a:xfrm>
          <a:prstGeom prst="rect">
            <a:avLst/>
          </a:prstGeom>
          <a:noFill/>
        </p:spPr>
        <p:txBody>
          <a:bodyPr wrap="square" anchor="t" lIns="0" rIns="0" tIns="0" bIns="0">
            <a:spAutoFit/>
          </a:bodyPr>
          <a:lstStyle/>
          <a:p>
            <a:pPr algn="r">
              <a:lnSpc>
                <a:spcPct val="115000"/>
              </a:lnSpc>
            </a:pPr>
            <a:r>
              <a:rPr sz="1000" b="0">
                <a:solidFill>
                  <a:srgbClr val="94A3B8"/>
                </a:solidFill>
                <a:latin typeface="Segoe UI"/>
              </a:rPr>
              <a:t>3</a:t>
            </a:r>
          </a:p>
        </p:txBody>
      </p:sp>
      <p:pic>
        <p:nvPicPr>
          <p:cNvPr id="6" name="Picture 5" descr="keluarga.png"/>
          <p:cNvPicPr>
            <a:picLocks noChangeAspect="1"/>
          </p:cNvPicPr>
          <p:nvPr/>
        </p:nvPicPr>
        <p:blipFill>
          <a:blip r:embed="rId2"/>
          <a:stretch>
            <a:fillRect/>
          </a:stretch>
        </p:blipFill>
        <p:spPr>
          <a:xfrm>
            <a:off x="1887349" y="1828800"/>
            <a:ext cx="8416997" cy="4206240"/>
          </a:xfrm>
          <a:prstGeom prst="rect">
            <a:avLst/>
          </a:prstGeom>
        </p:spPr>
      </p:pic>
      <p:sp>
        <p:nvSpPr>
          <p:cNvPr id="7" name="TextBox 6"/>
          <p:cNvSpPr txBox="1"/>
          <p:nvPr/>
        </p:nvSpPr>
        <p:spPr>
          <a:xfrm>
            <a:off x="777240" y="6144768"/>
            <a:ext cx="10637215" cy="411480"/>
          </a:xfrm>
          <a:prstGeom prst="rect">
            <a:avLst/>
          </a:prstGeom>
          <a:noFill/>
        </p:spPr>
        <p:txBody>
          <a:bodyPr wrap="square" anchor="t" lIns="0" rIns="0" tIns="0" bIns="0">
            <a:spAutoFit/>
          </a:bodyPr>
          <a:lstStyle/>
          <a:p>
            <a:pPr algn="ctr">
              <a:lnSpc>
                <a:spcPct val="115000"/>
              </a:lnSpc>
            </a:pPr>
            <a:r>
              <a:rPr sz="1200" b="0">
                <a:solidFill>
                  <a:srgbClr val="475569"/>
                </a:solidFill>
                <a:latin typeface="Segoe UI"/>
              </a:rPr>
              <a:t>Enam kali didata. Enam kali di bawah garis kemiskinan. Nol program bantuan selama tiga tahun.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1E5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07040" cy="640080"/>
          </a:xfrm>
          <a:prstGeom prst="rect">
            <a:avLst/>
          </a:prstGeom>
          <a:noFill/>
        </p:spPr>
        <p:txBody>
          <a:bodyPr wrap="square" anchor="t" lIns="0" rIns="0" tIns="0" bIns="0">
            <a:spAutoFit/>
          </a:bodyPr>
          <a:lstStyle/>
          <a:p>
            <a:pPr algn="l">
              <a:lnSpc>
                <a:spcPct val="115000"/>
              </a:lnSpc>
            </a:pPr>
            <a:r>
              <a:rPr sz="2800" b="1">
                <a:solidFill>
                  <a:srgbClr val="1E5A8F"/>
                </a:solidFill>
                <a:latin typeface="Segoe UI Semibold"/>
              </a:rPr>
              <a:t>Dan ini bukan kasus tunggal</a:t>
            </a:r>
          </a:p>
        </p:txBody>
      </p:sp>
      <p:sp>
        <p:nvSpPr>
          <p:cNvPr id="4" name="TextBox 3"/>
          <p:cNvSpPr txBox="1"/>
          <p:nvPr/>
        </p:nvSpPr>
        <p:spPr>
          <a:xfrm>
            <a:off x="11094415" y="6355080"/>
            <a:ext cx="548640" cy="274320"/>
          </a:xfrm>
          <a:prstGeom prst="rect">
            <a:avLst/>
          </a:prstGeom>
          <a:noFill/>
        </p:spPr>
        <p:txBody>
          <a:bodyPr wrap="square" anchor="t" lIns="0" rIns="0" tIns="0" bIns="0">
            <a:spAutoFit/>
          </a:bodyPr>
          <a:lstStyle/>
          <a:p>
            <a:pPr algn="r">
              <a:lnSpc>
                <a:spcPct val="115000"/>
              </a:lnSpc>
            </a:pPr>
            <a:r>
              <a:rPr sz="1000" b="0">
                <a:solidFill>
                  <a:srgbClr val="94A3B8"/>
                </a:solidFill>
                <a:latin typeface="Segoe UI"/>
              </a:rPr>
              <a:t>4</a:t>
            </a:r>
          </a:p>
        </p:txBody>
      </p:sp>
      <p:sp>
        <p:nvSpPr>
          <p:cNvPr id="5" name="Rounded Rectangle 4"/>
          <p:cNvSpPr/>
          <p:nvPr/>
        </p:nvSpPr>
        <p:spPr>
          <a:xfrm>
            <a:off x="777240" y="1298448"/>
            <a:ext cx="3301898" cy="274320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1682496"/>
            <a:ext cx="2753258" cy="1005840"/>
          </a:xfrm>
          <a:prstGeom prst="rect">
            <a:avLst/>
          </a:prstGeom>
          <a:noFill/>
        </p:spPr>
        <p:txBody>
          <a:bodyPr wrap="square" anchor="t" lIns="0" rIns="0" tIns="0" bIns="0">
            <a:spAutoFit/>
          </a:bodyPr>
          <a:lstStyle/>
          <a:p>
            <a:pPr algn="l">
              <a:lnSpc>
                <a:spcPct val="115000"/>
              </a:lnSpc>
            </a:pPr>
            <a:r>
              <a:rPr sz="4600" b="1">
                <a:solidFill>
                  <a:srgbClr val="1E5A8F"/>
                </a:solidFill>
                <a:latin typeface="Segoe UI Semibold"/>
              </a:rPr>
              <a:t>10.648</a:t>
            </a:r>
          </a:p>
        </p:txBody>
      </p:sp>
      <p:sp>
        <p:nvSpPr>
          <p:cNvPr id="7" name="TextBox 6"/>
          <p:cNvSpPr txBox="1"/>
          <p:nvPr/>
        </p:nvSpPr>
        <p:spPr>
          <a:xfrm>
            <a:off x="1051560" y="2670048"/>
            <a:ext cx="2753258" cy="365760"/>
          </a:xfrm>
          <a:prstGeom prst="rect">
            <a:avLst/>
          </a:prstGeom>
          <a:noFill/>
        </p:spPr>
        <p:txBody>
          <a:bodyPr wrap="square" anchor="t" lIns="0" rIns="0" tIns="0" bIns="0">
            <a:spAutoFit/>
          </a:bodyPr>
          <a:lstStyle/>
          <a:p>
            <a:pPr algn="l">
              <a:lnSpc>
                <a:spcPct val="115000"/>
              </a:lnSpc>
            </a:pPr>
            <a:r>
              <a:rPr sz="1400" b="1">
                <a:solidFill>
                  <a:srgbClr val="0F172A"/>
                </a:solidFill>
                <a:latin typeface="Segoe UI Semibold"/>
              </a:rPr>
              <a:t>keluarga tanpa program apa pun</a:t>
            </a:r>
          </a:p>
        </p:txBody>
      </p:sp>
      <p:sp>
        <p:nvSpPr>
          <p:cNvPr id="8" name="TextBox 7"/>
          <p:cNvSpPr txBox="1"/>
          <p:nvPr/>
        </p:nvSpPr>
        <p:spPr>
          <a:xfrm>
            <a:off x="1051560" y="3081528"/>
            <a:ext cx="2753258" cy="822960"/>
          </a:xfrm>
          <a:prstGeom prst="rect">
            <a:avLst/>
          </a:prstGeom>
          <a:noFill/>
        </p:spPr>
        <p:txBody>
          <a:bodyPr wrap="square" anchor="t" lIns="0" rIns="0" tIns="0" bIns="0">
            <a:spAutoFit/>
          </a:bodyPr>
          <a:lstStyle/>
          <a:p>
            <a:pPr algn="l">
              <a:lnSpc>
                <a:spcPct val="125000"/>
              </a:lnSpc>
            </a:pPr>
            <a:r>
              <a:rPr sz="1100" b="0">
                <a:solidFill>
                  <a:srgbClr val="475569"/>
                </a:solidFill>
                <a:latin typeface="Segoe UI"/>
              </a:rPr>
              <a:t>Dari 40.000 keluarga desil 1–5 dalam cakupan sistem.</a:t>
            </a:r>
          </a:p>
        </p:txBody>
      </p:sp>
      <p:sp>
        <p:nvSpPr>
          <p:cNvPr id="9" name="Rounded Rectangle 8"/>
          <p:cNvSpPr/>
          <p:nvPr/>
        </p:nvSpPr>
        <p:spPr>
          <a:xfrm>
            <a:off x="4444898" y="1298448"/>
            <a:ext cx="3301898" cy="274320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19218" y="1682496"/>
            <a:ext cx="2753258" cy="1005840"/>
          </a:xfrm>
          <a:prstGeom prst="rect">
            <a:avLst/>
          </a:prstGeom>
          <a:noFill/>
        </p:spPr>
        <p:txBody>
          <a:bodyPr wrap="square" anchor="t" lIns="0" rIns="0" tIns="0" bIns="0">
            <a:spAutoFit/>
          </a:bodyPr>
          <a:lstStyle/>
          <a:p>
            <a:pPr algn="l">
              <a:lnSpc>
                <a:spcPct val="115000"/>
              </a:lnSpc>
            </a:pPr>
            <a:r>
              <a:rPr sz="4600" b="1">
                <a:solidFill>
                  <a:srgbClr val="1E5A8F"/>
                </a:solidFill>
                <a:latin typeface="Segoe UI Semibold"/>
              </a:rPr>
              <a:t>555</a:t>
            </a:r>
          </a:p>
        </p:txBody>
      </p:sp>
      <p:sp>
        <p:nvSpPr>
          <p:cNvPr id="11" name="TextBox 10"/>
          <p:cNvSpPr txBox="1"/>
          <p:nvPr/>
        </p:nvSpPr>
        <p:spPr>
          <a:xfrm>
            <a:off x="4719218" y="2670048"/>
            <a:ext cx="2753258" cy="365760"/>
          </a:xfrm>
          <a:prstGeom prst="rect">
            <a:avLst/>
          </a:prstGeom>
          <a:noFill/>
        </p:spPr>
        <p:txBody>
          <a:bodyPr wrap="square" anchor="t" lIns="0" rIns="0" tIns="0" bIns="0">
            <a:spAutoFit/>
          </a:bodyPr>
          <a:lstStyle/>
          <a:p>
            <a:pPr algn="l">
              <a:lnSpc>
                <a:spcPct val="115000"/>
              </a:lnSpc>
            </a:pPr>
            <a:r>
              <a:rPr sz="1400" b="1">
                <a:solidFill>
                  <a:srgbClr val="0F172A"/>
                </a:solidFill>
                <a:latin typeface="Segoe UI Semibold"/>
              </a:rPr>
              <a:t>di antaranya tergolong miskin</a:t>
            </a:r>
          </a:p>
        </p:txBody>
      </p:sp>
      <p:sp>
        <p:nvSpPr>
          <p:cNvPr id="12" name="TextBox 11"/>
          <p:cNvSpPr txBox="1"/>
          <p:nvPr/>
        </p:nvSpPr>
        <p:spPr>
          <a:xfrm>
            <a:off x="4719218" y="3081528"/>
            <a:ext cx="2753258" cy="822960"/>
          </a:xfrm>
          <a:prstGeom prst="rect">
            <a:avLst/>
          </a:prstGeom>
          <a:noFill/>
        </p:spPr>
        <p:txBody>
          <a:bodyPr wrap="square" anchor="t" lIns="0" rIns="0" tIns="0" bIns="0">
            <a:spAutoFit/>
          </a:bodyPr>
          <a:lstStyle/>
          <a:p>
            <a:pPr algn="l">
              <a:lnSpc>
                <a:spcPct val="125000"/>
              </a:lnSpc>
            </a:pPr>
            <a:r>
              <a:rPr sz="1100" b="0">
                <a:solidFill>
                  <a:srgbClr val="475569"/>
                </a:solidFill>
                <a:latin typeface="Segoe UI"/>
              </a:rPr>
              <a:t>Pengeluaran di bawah garis kemiskinan, namun tidak menerima bantuan apa pun.</a:t>
            </a:r>
          </a:p>
        </p:txBody>
      </p:sp>
      <p:sp>
        <p:nvSpPr>
          <p:cNvPr id="13" name="Rounded Rectangle 12"/>
          <p:cNvSpPr/>
          <p:nvPr/>
        </p:nvSpPr>
        <p:spPr>
          <a:xfrm>
            <a:off x="8112556" y="1298448"/>
            <a:ext cx="3301898" cy="274320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86876" y="1682496"/>
            <a:ext cx="2753258" cy="1005840"/>
          </a:xfrm>
          <a:prstGeom prst="rect">
            <a:avLst/>
          </a:prstGeom>
          <a:noFill/>
        </p:spPr>
        <p:txBody>
          <a:bodyPr wrap="square" anchor="t" lIns="0" rIns="0" tIns="0" bIns="0">
            <a:spAutoFit/>
          </a:bodyPr>
          <a:lstStyle/>
          <a:p>
            <a:pPr algn="l">
              <a:lnSpc>
                <a:spcPct val="115000"/>
              </a:lnSpc>
            </a:pPr>
            <a:r>
              <a:rPr sz="4600" b="1">
                <a:solidFill>
                  <a:srgbClr val="1E5A8F"/>
                </a:solidFill>
                <a:latin typeface="Segoe UI Semibold"/>
              </a:rPr>
              <a:t>22%</a:t>
            </a:r>
          </a:p>
        </p:txBody>
      </p:sp>
      <p:sp>
        <p:nvSpPr>
          <p:cNvPr id="15" name="TextBox 14"/>
          <p:cNvSpPr txBox="1"/>
          <p:nvPr/>
        </p:nvSpPr>
        <p:spPr>
          <a:xfrm>
            <a:off x="8386876" y="2670048"/>
            <a:ext cx="2753258" cy="365760"/>
          </a:xfrm>
          <a:prstGeom prst="rect">
            <a:avLst/>
          </a:prstGeom>
          <a:noFill/>
        </p:spPr>
        <p:txBody>
          <a:bodyPr wrap="square" anchor="t" lIns="0" rIns="0" tIns="0" bIns="0">
            <a:spAutoFit/>
          </a:bodyPr>
          <a:lstStyle/>
          <a:p>
            <a:pPr algn="l">
              <a:lnSpc>
                <a:spcPct val="115000"/>
              </a:lnSpc>
            </a:pPr>
            <a:r>
              <a:rPr sz="1400" b="1">
                <a:solidFill>
                  <a:srgbClr val="0F172A"/>
                </a:solidFill>
                <a:latin typeface="Segoe UI Semibold"/>
              </a:rPr>
              <a:t>penandaan yang ternyata keliru</a:t>
            </a:r>
          </a:p>
        </p:txBody>
      </p:sp>
      <p:sp>
        <p:nvSpPr>
          <p:cNvPr id="16" name="TextBox 15"/>
          <p:cNvSpPr txBox="1"/>
          <p:nvPr/>
        </p:nvSpPr>
        <p:spPr>
          <a:xfrm>
            <a:off x="8386876" y="3081528"/>
            <a:ext cx="2753258" cy="822960"/>
          </a:xfrm>
          <a:prstGeom prst="rect">
            <a:avLst/>
          </a:prstGeom>
          <a:noFill/>
        </p:spPr>
        <p:txBody>
          <a:bodyPr wrap="square" anchor="t" lIns="0" rIns="0" tIns="0" bIns="0">
            <a:spAutoFit/>
          </a:bodyPr>
          <a:lstStyle/>
          <a:p>
            <a:pPr algn="l">
              <a:lnSpc>
                <a:spcPct val="125000"/>
              </a:lnSpc>
            </a:pPr>
            <a:r>
              <a:rPr sz="1100" b="0">
                <a:solidFill>
                  <a:srgbClr val="475569"/>
                </a:solidFill>
                <a:latin typeface="Segoe UI"/>
              </a:rPr>
              <a:t>Diketahui hanya setelah petugas datang memeriksa ke lapangan.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1E5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07040" cy="640080"/>
          </a:xfrm>
          <a:prstGeom prst="rect">
            <a:avLst/>
          </a:prstGeom>
          <a:noFill/>
        </p:spPr>
        <p:txBody>
          <a:bodyPr wrap="square" anchor="t" lIns="0" rIns="0" tIns="0" bIns="0">
            <a:spAutoFit/>
          </a:bodyPr>
          <a:lstStyle/>
          <a:p>
            <a:pPr algn="l">
              <a:lnSpc>
                <a:spcPct val="115000"/>
              </a:lnSpc>
            </a:pPr>
            <a:r>
              <a:rPr sz="2800" b="1">
                <a:solidFill>
                  <a:srgbClr val="1E5A8F"/>
                </a:solidFill>
                <a:latin typeface="Segoe UI Semibold"/>
              </a:rPr>
              <a:t>Mengapa keluarga seperti ini terlewat</a:t>
            </a:r>
          </a:p>
        </p:txBody>
      </p:sp>
      <p:sp>
        <p:nvSpPr>
          <p:cNvPr id="4" name="TextBox 3"/>
          <p:cNvSpPr txBox="1"/>
          <p:nvPr/>
        </p:nvSpPr>
        <p:spPr>
          <a:xfrm>
            <a:off x="11094415" y="6355080"/>
            <a:ext cx="548640" cy="274320"/>
          </a:xfrm>
          <a:prstGeom prst="rect">
            <a:avLst/>
          </a:prstGeom>
          <a:noFill/>
        </p:spPr>
        <p:txBody>
          <a:bodyPr wrap="square" anchor="t" lIns="0" rIns="0" tIns="0" bIns="0">
            <a:spAutoFit/>
          </a:bodyPr>
          <a:lstStyle/>
          <a:p>
            <a:pPr algn="r">
              <a:lnSpc>
                <a:spcPct val="115000"/>
              </a:lnSpc>
            </a:pPr>
            <a:r>
              <a:rPr sz="1000" b="0">
                <a:solidFill>
                  <a:srgbClr val="94A3B8"/>
                </a:solidFill>
                <a:latin typeface="Segoe UI"/>
              </a:rPr>
              <a:t>5</a:t>
            </a:r>
          </a:p>
        </p:txBody>
      </p:sp>
      <p:sp>
        <p:nvSpPr>
          <p:cNvPr id="5" name="Oval 4"/>
          <p:cNvSpPr/>
          <p:nvPr/>
        </p:nvSpPr>
        <p:spPr>
          <a:xfrm>
            <a:off x="777240" y="1417320"/>
            <a:ext cx="118872" cy="118872"/>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4712" y="1298448"/>
            <a:ext cx="10271455" cy="548640"/>
          </a:xfrm>
          <a:prstGeom prst="rect">
            <a:avLst/>
          </a:prstGeom>
          <a:noFill/>
        </p:spPr>
        <p:txBody>
          <a:bodyPr wrap="square" anchor="t" lIns="0" rIns="0" tIns="0" bIns="0">
            <a:spAutoFit/>
          </a:bodyPr>
          <a:lstStyle/>
          <a:p>
            <a:pPr algn="l">
              <a:lnSpc>
                <a:spcPct val="125000"/>
              </a:lnSpc>
            </a:pPr>
            <a:r>
              <a:rPr sz="1700" b="1">
                <a:solidFill>
                  <a:srgbClr val="0F172A"/>
                </a:solidFill>
                <a:latin typeface="Segoe UI Semibold"/>
              </a:rPr>
              <a:t>Penargetan menilai potret, bukan lintasan.</a:t>
            </a:r>
            <a:r>
              <a:rPr sz="1700" b="0">
                <a:solidFill>
                  <a:srgbClr val="0F172A"/>
                </a:solidFill>
                <a:latin typeface="Segoe UI"/>
              </a:rPr>
              <a:t> Yang dilihat adalah keadaan pada hari pendataan — bukan ke arah mana keluarga itu sedang bergerak.</a:t>
            </a:r>
          </a:p>
        </p:txBody>
      </p:sp>
      <p:sp>
        <p:nvSpPr>
          <p:cNvPr id="7" name="Oval 6"/>
          <p:cNvSpPr/>
          <p:nvPr/>
        </p:nvSpPr>
        <p:spPr>
          <a:xfrm>
            <a:off x="777240" y="2341118"/>
            <a:ext cx="118872" cy="118872"/>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24712" y="2222246"/>
            <a:ext cx="10271455" cy="548640"/>
          </a:xfrm>
          <a:prstGeom prst="rect">
            <a:avLst/>
          </a:prstGeom>
          <a:noFill/>
        </p:spPr>
        <p:txBody>
          <a:bodyPr wrap="square" anchor="t" lIns="0" rIns="0" tIns="0" bIns="0">
            <a:spAutoFit/>
          </a:bodyPr>
          <a:lstStyle/>
          <a:p>
            <a:pPr algn="l">
              <a:lnSpc>
                <a:spcPct val="125000"/>
              </a:lnSpc>
            </a:pPr>
            <a:r>
              <a:rPr sz="1700" b="1">
                <a:solidFill>
                  <a:srgbClr val="0F172A"/>
                </a:solidFill>
                <a:latin typeface="Segoe UI Semibold"/>
              </a:rPr>
              <a:t>Penaksiran kesejahteraan memang tidak teliti.</a:t>
            </a:r>
            <a:r>
              <a:rPr sz="1700" b="0">
                <a:solidFill>
                  <a:srgbClr val="0F172A"/>
                </a:solidFill>
                <a:latin typeface="Segoe UI"/>
              </a:rPr>
              <a:t> Proxy Means Test yang dipakai di negara berkembang hanya menjelaskan 40–60 persen keragaman pengeluaran nyata.</a:t>
            </a:r>
          </a:p>
        </p:txBody>
      </p:sp>
      <p:sp>
        <p:nvSpPr>
          <p:cNvPr id="9" name="Oval 8"/>
          <p:cNvSpPr/>
          <p:nvPr/>
        </p:nvSpPr>
        <p:spPr>
          <a:xfrm>
            <a:off x="777240" y="3264916"/>
            <a:ext cx="118872" cy="118872"/>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4712" y="3146044"/>
            <a:ext cx="10271455" cy="548640"/>
          </a:xfrm>
          <a:prstGeom prst="rect">
            <a:avLst/>
          </a:prstGeom>
          <a:noFill/>
        </p:spPr>
        <p:txBody>
          <a:bodyPr wrap="square" anchor="t" lIns="0" rIns="0" tIns="0" bIns="0">
            <a:spAutoFit/>
          </a:bodyPr>
          <a:lstStyle/>
          <a:p>
            <a:pPr algn="l">
              <a:lnSpc>
                <a:spcPct val="125000"/>
              </a:lnSpc>
            </a:pPr>
            <a:r>
              <a:rPr sz="1700" b="1">
                <a:solidFill>
                  <a:srgbClr val="0F172A"/>
                </a:solidFill>
                <a:latin typeface="Segoe UI Semibold"/>
              </a:rPr>
              <a:t>Pemutakhiran berjarak bulan.</a:t>
            </a:r>
            <a:r>
              <a:rPr sz="1700" b="0">
                <a:solidFill>
                  <a:srgbClr val="0F172A"/>
                </a:solidFill>
                <a:latin typeface="Segoe UI"/>
              </a:rPr>
              <a:t> Guncangan — gagal panen, kehilangan pekerjaan, sakit berat — terjadi di antara dua pendataan, dan baru terlihat pada pendataan berikutnya.</a:t>
            </a:r>
          </a:p>
        </p:txBody>
      </p:sp>
      <p:sp>
        <p:nvSpPr>
          <p:cNvPr id="11" name="Oval 10"/>
          <p:cNvSpPr/>
          <p:nvPr/>
        </p:nvSpPr>
        <p:spPr>
          <a:xfrm>
            <a:off x="777240" y="4188714"/>
            <a:ext cx="118872" cy="118872"/>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24712" y="4069842"/>
            <a:ext cx="10271455" cy="548640"/>
          </a:xfrm>
          <a:prstGeom prst="rect">
            <a:avLst/>
          </a:prstGeom>
          <a:noFill/>
        </p:spPr>
        <p:txBody>
          <a:bodyPr wrap="square" anchor="t" lIns="0" rIns="0" tIns="0" bIns="0">
            <a:spAutoFit/>
          </a:bodyPr>
          <a:lstStyle/>
          <a:p>
            <a:pPr algn="l">
              <a:lnSpc>
                <a:spcPct val="125000"/>
              </a:lnSpc>
            </a:pPr>
            <a:r>
              <a:rPr sz="1700" b="1">
                <a:solidFill>
                  <a:srgbClr val="0F172A"/>
                </a:solidFill>
                <a:latin typeface="Segoe UI Semibold"/>
              </a:rPr>
              <a:t>Kesalahan melewatkan tidak terlihat siapa pun.</a:t>
            </a:r>
            <a:r>
              <a:rPr sz="1700" b="0">
                <a:solidFill>
                  <a:srgbClr val="0F172A"/>
                </a:solidFill>
                <a:latin typeface="Segoe UI"/>
              </a:rPr>
              <a:t> Keluarga yang seharusnya dibantu namun tidak terdaftar tidak muncul pada laporan mana pun untuk mengeluh.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E5A8F"/>
        </a:solidFill>
        <a:effectLst/>
      </p:bgPr>
    </p:bg>
    <p:spTree>
      <p:nvGrpSpPr>
        <p:cNvPr id="1" name=""/>
        <p:cNvGrpSpPr/>
        <p:nvPr/>
      </p:nvGrpSpPr>
      <p:grpSpPr/>
      <p:sp>
        <p:nvSpPr>
          <p:cNvPr id="2" name="TextBox 1"/>
          <p:cNvSpPr txBox="1"/>
          <p:nvPr/>
        </p:nvSpPr>
        <p:spPr>
          <a:xfrm>
            <a:off x="777240" y="2377440"/>
            <a:ext cx="1371600" cy="822960"/>
          </a:xfrm>
          <a:prstGeom prst="rect">
            <a:avLst/>
          </a:prstGeom>
          <a:noFill/>
        </p:spPr>
        <p:txBody>
          <a:bodyPr wrap="square" anchor="t" lIns="0" rIns="0" tIns="0" bIns="0">
            <a:spAutoFit/>
          </a:bodyPr>
          <a:lstStyle/>
          <a:p>
            <a:pPr algn="l">
              <a:lnSpc>
                <a:spcPct val="115000"/>
              </a:lnSpc>
            </a:pPr>
            <a:r>
              <a:rPr sz="5400" b="1">
                <a:solidFill>
                  <a:srgbClr val="7FA8CC"/>
                </a:solidFill>
                <a:latin typeface="Segoe UI Semibold"/>
              </a:rPr>
              <a:t>02</a:t>
            </a:r>
          </a:p>
        </p:txBody>
      </p:sp>
      <p:sp>
        <p:nvSpPr>
          <p:cNvPr id="3" name="TextBox 2"/>
          <p:cNvSpPr txBox="1"/>
          <p:nvPr/>
        </p:nvSpPr>
        <p:spPr>
          <a:xfrm>
            <a:off x="777240" y="3200400"/>
            <a:ext cx="10515600" cy="1097280"/>
          </a:xfrm>
          <a:prstGeom prst="rect">
            <a:avLst/>
          </a:prstGeom>
          <a:noFill/>
        </p:spPr>
        <p:txBody>
          <a:bodyPr wrap="square" anchor="t" lIns="0" rIns="0" tIns="0" bIns="0">
            <a:spAutoFit/>
          </a:bodyPr>
          <a:lstStyle/>
          <a:p>
            <a:pPr algn="l">
              <a:lnSpc>
                <a:spcPct val="115000"/>
              </a:lnSpc>
            </a:pPr>
            <a:r>
              <a:rPr sz="4000" b="1">
                <a:solidFill>
                  <a:srgbClr val="FFFFFF"/>
                </a:solidFill>
                <a:latin typeface="Segoe UI Semibold"/>
              </a:rPr>
              <a:t>Apa yang saya bangun</a:t>
            </a:r>
          </a:p>
        </p:txBody>
      </p:sp>
      <p:sp>
        <p:nvSpPr>
          <p:cNvPr id="4" name="TextBox 3"/>
          <p:cNvSpPr txBox="1"/>
          <p:nvPr/>
        </p:nvSpPr>
        <p:spPr>
          <a:xfrm>
            <a:off x="777240" y="4343400"/>
            <a:ext cx="9601200" cy="731520"/>
          </a:xfrm>
          <a:prstGeom prst="rect">
            <a:avLst/>
          </a:prstGeom>
          <a:noFill/>
        </p:spPr>
        <p:txBody>
          <a:bodyPr wrap="square" anchor="t" lIns="0" rIns="0" tIns="0" bIns="0">
            <a:spAutoFit/>
          </a:bodyPr>
          <a:lstStyle/>
          <a:p>
            <a:pPr algn="l">
              <a:lnSpc>
                <a:spcPct val="115000"/>
              </a:lnSpc>
            </a:pPr>
            <a:r>
              <a:rPr sz="1700" b="0">
                <a:solidFill>
                  <a:srgbClr val="C7DAEE"/>
                </a:solidFill>
                <a:latin typeface="Segoe UI"/>
              </a:rPr>
              <a:t>Sebuah sistem pendukung keputusan — bukan pengganti keputusan.</a:t>
            </a:r>
          </a:p>
        </p:txBody>
      </p:sp>
      <p:sp>
        <p:nvSpPr>
          <p:cNvPr id="5" name="TextBox 4"/>
          <p:cNvSpPr txBox="1"/>
          <p:nvPr/>
        </p:nvSpPr>
        <p:spPr>
          <a:xfrm>
            <a:off x="11094415" y="6355080"/>
            <a:ext cx="548640" cy="274320"/>
          </a:xfrm>
          <a:prstGeom prst="rect">
            <a:avLst/>
          </a:prstGeom>
          <a:noFill/>
        </p:spPr>
        <p:txBody>
          <a:bodyPr wrap="square" anchor="t" lIns="0" rIns="0" tIns="0" bIns="0">
            <a:spAutoFit/>
          </a:bodyPr>
          <a:lstStyle/>
          <a:p>
            <a:pPr algn="r">
              <a:lnSpc>
                <a:spcPct val="115000"/>
              </a:lnSpc>
            </a:pPr>
            <a:r>
              <a:rPr sz="1000" b="0">
                <a:solidFill>
                  <a:srgbClr val="94A3B8"/>
                </a:solidFill>
                <a:latin typeface="Segoe U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1E5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07040" cy="640080"/>
          </a:xfrm>
          <a:prstGeom prst="rect">
            <a:avLst/>
          </a:prstGeom>
          <a:noFill/>
        </p:spPr>
        <p:txBody>
          <a:bodyPr wrap="square" anchor="t" lIns="0" rIns="0" tIns="0" bIns="0">
            <a:spAutoFit/>
          </a:bodyPr>
          <a:lstStyle/>
          <a:p>
            <a:pPr algn="l">
              <a:lnSpc>
                <a:spcPct val="115000"/>
              </a:lnSpc>
            </a:pPr>
            <a:r>
              <a:rPr sz="2800" b="1">
                <a:solidFill>
                  <a:srgbClr val="1E5A8F"/>
                </a:solidFill>
                <a:latin typeface="Segoe UI Semibold"/>
              </a:rPr>
              <a:t>Batas yang menentukan seluruh rancangan</a:t>
            </a:r>
          </a:p>
        </p:txBody>
      </p:sp>
      <p:sp>
        <p:nvSpPr>
          <p:cNvPr id="4" name="TextBox 3"/>
          <p:cNvSpPr txBox="1"/>
          <p:nvPr/>
        </p:nvSpPr>
        <p:spPr>
          <a:xfrm>
            <a:off x="11094415" y="6355080"/>
            <a:ext cx="548640" cy="274320"/>
          </a:xfrm>
          <a:prstGeom prst="rect">
            <a:avLst/>
          </a:prstGeom>
          <a:noFill/>
        </p:spPr>
        <p:txBody>
          <a:bodyPr wrap="square" anchor="t" lIns="0" rIns="0" tIns="0" bIns="0">
            <a:spAutoFit/>
          </a:bodyPr>
          <a:lstStyle/>
          <a:p>
            <a:pPr algn="r">
              <a:lnSpc>
                <a:spcPct val="115000"/>
              </a:lnSpc>
            </a:pPr>
            <a:r>
              <a:rPr sz="1000" b="0">
                <a:solidFill>
                  <a:srgbClr val="94A3B8"/>
                </a:solidFill>
                <a:latin typeface="Segoe UI"/>
              </a:rPr>
              <a:t>7</a:t>
            </a:r>
          </a:p>
        </p:txBody>
      </p:sp>
      <p:sp>
        <p:nvSpPr>
          <p:cNvPr id="5" name="Rounded Rectangle 4"/>
          <p:cNvSpPr/>
          <p:nvPr/>
        </p:nvSpPr>
        <p:spPr>
          <a:xfrm>
            <a:off x="777240" y="1298448"/>
            <a:ext cx="5044287" cy="3840480"/>
          </a:xfrm>
          <a:prstGeom prst="roundRect">
            <a:avLst>
              <a:gd name="adj" fmla="val 4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298448"/>
            <a:ext cx="64008" cy="3840480"/>
          </a:xfrm>
          <a:prstGeom prst="rect">
            <a:avLst/>
          </a:prstGeom>
          <a:solidFill>
            <a:srgbClr val="D0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1618488"/>
            <a:ext cx="4312767" cy="457200"/>
          </a:xfrm>
          <a:prstGeom prst="rect">
            <a:avLst/>
          </a:prstGeom>
          <a:noFill/>
        </p:spPr>
        <p:txBody>
          <a:bodyPr wrap="square" anchor="t" lIns="0" rIns="0" tIns="0" bIns="0">
            <a:spAutoFit/>
          </a:bodyPr>
          <a:lstStyle/>
          <a:p>
            <a:pPr algn="l">
              <a:lnSpc>
                <a:spcPct val="115000"/>
              </a:lnSpc>
            </a:pPr>
            <a:r>
              <a:rPr sz="1800" b="1">
                <a:solidFill>
                  <a:srgbClr val="D03B3B"/>
                </a:solidFill>
                <a:latin typeface="Segoe UI Semibold"/>
              </a:rPr>
              <a:t>NADI TIDAK</a:t>
            </a:r>
          </a:p>
        </p:txBody>
      </p:sp>
      <p:sp>
        <p:nvSpPr>
          <p:cNvPr id="8" name="TextBox 7"/>
          <p:cNvSpPr txBox="1"/>
          <p:nvPr/>
        </p:nvSpPr>
        <p:spPr>
          <a:xfrm>
            <a:off x="1143000" y="2212848"/>
            <a:ext cx="4312767" cy="548640"/>
          </a:xfrm>
          <a:prstGeom prst="rect">
            <a:avLst/>
          </a:prstGeom>
          <a:noFill/>
        </p:spPr>
        <p:txBody>
          <a:bodyPr wrap="square" anchor="t" lIns="0" rIns="0" tIns="0" bIns="0">
            <a:spAutoFit/>
          </a:bodyPr>
          <a:lstStyle/>
          <a:p>
            <a:pPr algn="l">
              <a:lnSpc>
                <a:spcPct val="130000"/>
              </a:lnSpc>
            </a:pPr>
            <a:r>
              <a:rPr sz="1400" b="0">
                <a:solidFill>
                  <a:srgbClr val="0F172A"/>
                </a:solidFill>
                <a:latin typeface="Segoe UI"/>
              </a:rPr>
              <a:t>Tidak menetapkan siapa berhak menerima bantuan</a:t>
            </a:r>
          </a:p>
        </p:txBody>
      </p:sp>
      <p:sp>
        <p:nvSpPr>
          <p:cNvPr id="9" name="TextBox 8"/>
          <p:cNvSpPr txBox="1"/>
          <p:nvPr/>
        </p:nvSpPr>
        <p:spPr>
          <a:xfrm>
            <a:off x="1143000" y="2670048"/>
            <a:ext cx="4312767" cy="548640"/>
          </a:xfrm>
          <a:prstGeom prst="rect">
            <a:avLst/>
          </a:prstGeom>
          <a:noFill/>
        </p:spPr>
        <p:txBody>
          <a:bodyPr wrap="square" anchor="t" lIns="0" rIns="0" tIns="0" bIns="0">
            <a:spAutoFit/>
          </a:bodyPr>
          <a:lstStyle/>
          <a:p>
            <a:pPr algn="l">
              <a:lnSpc>
                <a:spcPct val="130000"/>
              </a:lnSpc>
            </a:pPr>
            <a:r>
              <a:rPr sz="1400" b="0">
                <a:solidFill>
                  <a:srgbClr val="0F172A"/>
                </a:solidFill>
                <a:latin typeface="Segoe UI"/>
              </a:rPr>
              <a:t>Tidak menghentikan bantuan siapa pun</a:t>
            </a:r>
          </a:p>
        </p:txBody>
      </p:sp>
      <p:sp>
        <p:nvSpPr>
          <p:cNvPr id="10" name="TextBox 9"/>
          <p:cNvSpPr txBox="1"/>
          <p:nvPr/>
        </p:nvSpPr>
        <p:spPr>
          <a:xfrm>
            <a:off x="1143000" y="3127248"/>
            <a:ext cx="4312767" cy="548640"/>
          </a:xfrm>
          <a:prstGeom prst="rect">
            <a:avLst/>
          </a:prstGeom>
          <a:noFill/>
        </p:spPr>
        <p:txBody>
          <a:bodyPr wrap="square" anchor="t" lIns="0" rIns="0" tIns="0" bIns="0">
            <a:spAutoFit/>
          </a:bodyPr>
          <a:lstStyle/>
          <a:p>
            <a:pPr algn="l">
              <a:lnSpc>
                <a:spcPct val="130000"/>
              </a:lnSpc>
            </a:pPr>
            <a:r>
              <a:rPr sz="1400" b="0">
                <a:solidFill>
                  <a:srgbClr val="0F172A"/>
                </a:solidFill>
                <a:latin typeface="Segoe UI"/>
              </a:rPr>
              <a:t>Tidak dipakai mendeteksi kecurangan</a:t>
            </a:r>
          </a:p>
        </p:txBody>
      </p:sp>
      <p:sp>
        <p:nvSpPr>
          <p:cNvPr id="11" name="TextBox 10"/>
          <p:cNvSpPr txBox="1"/>
          <p:nvPr/>
        </p:nvSpPr>
        <p:spPr>
          <a:xfrm>
            <a:off x="1143000" y="3584448"/>
            <a:ext cx="4312767" cy="548640"/>
          </a:xfrm>
          <a:prstGeom prst="rect">
            <a:avLst/>
          </a:prstGeom>
          <a:noFill/>
        </p:spPr>
        <p:txBody>
          <a:bodyPr wrap="square" anchor="t" lIns="0" rIns="0" tIns="0" bIns="0">
            <a:spAutoFit/>
          </a:bodyPr>
          <a:lstStyle/>
          <a:p>
            <a:pPr algn="l">
              <a:lnSpc>
                <a:spcPct val="130000"/>
              </a:lnSpc>
            </a:pPr>
            <a:r>
              <a:rPr sz="1400" b="0">
                <a:solidFill>
                  <a:srgbClr val="0F172A"/>
                </a:solidFill>
                <a:latin typeface="Segoe UI"/>
              </a:rPr>
              <a:t>Tidak menyimpan nama, NIK, maupun alamat</a:t>
            </a:r>
          </a:p>
        </p:txBody>
      </p:sp>
      <p:sp>
        <p:nvSpPr>
          <p:cNvPr id="12" name="TextBox 11"/>
          <p:cNvSpPr txBox="1"/>
          <p:nvPr/>
        </p:nvSpPr>
        <p:spPr>
          <a:xfrm>
            <a:off x="1143000" y="4041648"/>
            <a:ext cx="4312767" cy="548640"/>
          </a:xfrm>
          <a:prstGeom prst="rect">
            <a:avLst/>
          </a:prstGeom>
          <a:noFill/>
        </p:spPr>
        <p:txBody>
          <a:bodyPr wrap="square" anchor="t" lIns="0" rIns="0" tIns="0" bIns="0">
            <a:spAutoFit/>
          </a:bodyPr>
          <a:lstStyle/>
          <a:p>
            <a:pPr algn="l">
              <a:lnSpc>
                <a:spcPct val="130000"/>
              </a:lnSpc>
            </a:pPr>
            <a:r>
              <a:rPr sz="1400" b="0">
                <a:solidFill>
                  <a:srgbClr val="0F172A"/>
                </a:solidFill>
                <a:latin typeface="Segoe UI"/>
              </a:rPr>
              <a:t>Tidak mengambil satu pun keputusan sendiri</a:t>
            </a:r>
          </a:p>
        </p:txBody>
      </p:sp>
      <p:sp>
        <p:nvSpPr>
          <p:cNvPr id="13" name="Rounded Rectangle 12"/>
          <p:cNvSpPr/>
          <p:nvPr/>
        </p:nvSpPr>
        <p:spPr>
          <a:xfrm>
            <a:off x="6370167" y="1298448"/>
            <a:ext cx="5044287" cy="3840480"/>
          </a:xfrm>
          <a:prstGeom prst="roundRect">
            <a:avLst>
              <a:gd name="adj" fmla="val 4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370167" y="1298448"/>
            <a:ext cx="64008" cy="3840480"/>
          </a:xfrm>
          <a:prstGeom prst="rect">
            <a:avLst/>
          </a:prstGeom>
          <a:solidFill>
            <a:srgbClr val="0CA3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35927" y="1618488"/>
            <a:ext cx="4312767" cy="457200"/>
          </a:xfrm>
          <a:prstGeom prst="rect">
            <a:avLst/>
          </a:prstGeom>
          <a:noFill/>
        </p:spPr>
        <p:txBody>
          <a:bodyPr wrap="square" anchor="t" lIns="0" rIns="0" tIns="0" bIns="0">
            <a:spAutoFit/>
          </a:bodyPr>
          <a:lstStyle/>
          <a:p>
            <a:pPr algn="l">
              <a:lnSpc>
                <a:spcPct val="115000"/>
              </a:lnSpc>
            </a:pPr>
            <a:r>
              <a:rPr sz="1800" b="1">
                <a:solidFill>
                  <a:srgbClr val="0CA30C"/>
                </a:solidFill>
                <a:latin typeface="Segoe UI Semibold"/>
              </a:rPr>
              <a:t>NADI MENGERJAKAN</a:t>
            </a:r>
          </a:p>
        </p:txBody>
      </p:sp>
      <p:sp>
        <p:nvSpPr>
          <p:cNvPr id="16" name="TextBox 15"/>
          <p:cNvSpPr txBox="1"/>
          <p:nvPr/>
        </p:nvSpPr>
        <p:spPr>
          <a:xfrm>
            <a:off x="6735927" y="2212848"/>
            <a:ext cx="4312767" cy="548640"/>
          </a:xfrm>
          <a:prstGeom prst="rect">
            <a:avLst/>
          </a:prstGeom>
          <a:noFill/>
        </p:spPr>
        <p:txBody>
          <a:bodyPr wrap="square" anchor="t" lIns="0" rIns="0" tIns="0" bIns="0">
            <a:spAutoFit/>
          </a:bodyPr>
          <a:lstStyle/>
          <a:p>
            <a:pPr algn="l">
              <a:lnSpc>
                <a:spcPct val="130000"/>
              </a:lnSpc>
            </a:pPr>
            <a:r>
              <a:rPr sz="1400" b="0">
                <a:solidFill>
                  <a:srgbClr val="0F172A"/>
                </a:solidFill>
                <a:latin typeface="Segoe UI"/>
              </a:rPr>
              <a:t>Menyusun antrean prioritas pemeriksaan</a:t>
            </a:r>
          </a:p>
        </p:txBody>
      </p:sp>
      <p:sp>
        <p:nvSpPr>
          <p:cNvPr id="17" name="TextBox 16"/>
          <p:cNvSpPr txBox="1"/>
          <p:nvPr/>
        </p:nvSpPr>
        <p:spPr>
          <a:xfrm>
            <a:off x="6735927" y="2670048"/>
            <a:ext cx="4312767" cy="548640"/>
          </a:xfrm>
          <a:prstGeom prst="rect">
            <a:avLst/>
          </a:prstGeom>
          <a:noFill/>
        </p:spPr>
        <p:txBody>
          <a:bodyPr wrap="square" anchor="t" lIns="0" rIns="0" tIns="0" bIns="0">
            <a:spAutoFit/>
          </a:bodyPr>
          <a:lstStyle/>
          <a:p>
            <a:pPr algn="l">
              <a:lnSpc>
                <a:spcPct val="130000"/>
              </a:lnSpc>
            </a:pPr>
            <a:r>
              <a:rPr sz="1400" b="0">
                <a:solidFill>
                  <a:srgbClr val="0F172A"/>
                </a:solidFill>
                <a:latin typeface="Segoe UI"/>
              </a:rPr>
              <a:t>Menjelaskan alasan setiap keluarga masuk daftar</a:t>
            </a:r>
          </a:p>
        </p:txBody>
      </p:sp>
      <p:sp>
        <p:nvSpPr>
          <p:cNvPr id="18" name="TextBox 17"/>
          <p:cNvSpPr txBox="1"/>
          <p:nvPr/>
        </p:nvSpPr>
        <p:spPr>
          <a:xfrm>
            <a:off x="6735927" y="3127248"/>
            <a:ext cx="4312767" cy="548640"/>
          </a:xfrm>
          <a:prstGeom prst="rect">
            <a:avLst/>
          </a:prstGeom>
          <a:noFill/>
        </p:spPr>
        <p:txBody>
          <a:bodyPr wrap="square" anchor="t" lIns="0" rIns="0" tIns="0" bIns="0">
            <a:spAutoFit/>
          </a:bodyPr>
          <a:lstStyle/>
          <a:p>
            <a:pPr algn="l">
              <a:lnSpc>
                <a:spcPct val="130000"/>
              </a:lnSpc>
            </a:pPr>
            <a:r>
              <a:rPr sz="1400" b="0">
                <a:solidFill>
                  <a:srgbClr val="0F172A"/>
                </a:solidFill>
                <a:latin typeface="Segoe UI"/>
              </a:rPr>
              <a:t>Menunjuk OPD yang berwenang menangani</a:t>
            </a:r>
          </a:p>
        </p:txBody>
      </p:sp>
      <p:sp>
        <p:nvSpPr>
          <p:cNvPr id="19" name="TextBox 18"/>
          <p:cNvSpPr txBox="1"/>
          <p:nvPr/>
        </p:nvSpPr>
        <p:spPr>
          <a:xfrm>
            <a:off x="6735927" y="3584448"/>
            <a:ext cx="4312767" cy="548640"/>
          </a:xfrm>
          <a:prstGeom prst="rect">
            <a:avLst/>
          </a:prstGeom>
          <a:noFill/>
        </p:spPr>
        <p:txBody>
          <a:bodyPr wrap="square" anchor="t" lIns="0" rIns="0" tIns="0" bIns="0">
            <a:spAutoFit/>
          </a:bodyPr>
          <a:lstStyle/>
          <a:p>
            <a:pPr algn="l">
              <a:lnSpc>
                <a:spcPct val="130000"/>
              </a:lnSpc>
            </a:pPr>
            <a:r>
              <a:rPr sz="1400" b="0">
                <a:solidFill>
                  <a:srgbClr val="0F172A"/>
                </a:solidFill>
                <a:latin typeface="Segoe UI"/>
              </a:rPr>
              <a:t>Mengusulkan program yang mungkin cocok</a:t>
            </a:r>
          </a:p>
        </p:txBody>
      </p:sp>
      <p:sp>
        <p:nvSpPr>
          <p:cNvPr id="20" name="TextBox 19"/>
          <p:cNvSpPr txBox="1"/>
          <p:nvPr/>
        </p:nvSpPr>
        <p:spPr>
          <a:xfrm>
            <a:off x="6735927" y="4041648"/>
            <a:ext cx="4312767" cy="548640"/>
          </a:xfrm>
          <a:prstGeom prst="rect">
            <a:avLst/>
          </a:prstGeom>
          <a:noFill/>
        </p:spPr>
        <p:txBody>
          <a:bodyPr wrap="square" anchor="t" lIns="0" rIns="0" tIns="0" bIns="0">
            <a:spAutoFit/>
          </a:bodyPr>
          <a:lstStyle/>
          <a:p>
            <a:pPr algn="l">
              <a:lnSpc>
                <a:spcPct val="130000"/>
              </a:lnSpc>
            </a:pPr>
            <a:r>
              <a:rPr sz="1400" b="0">
                <a:solidFill>
                  <a:srgbClr val="0F172A"/>
                </a:solidFill>
                <a:latin typeface="Segoe UI"/>
              </a:rPr>
              <a:t>Mengukur hasilnya terhadap kelompok pembanding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1E5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07040" cy="640080"/>
          </a:xfrm>
          <a:prstGeom prst="rect">
            <a:avLst/>
          </a:prstGeom>
          <a:noFill/>
        </p:spPr>
        <p:txBody>
          <a:bodyPr wrap="square" anchor="t" lIns="0" rIns="0" tIns="0" bIns="0">
            <a:spAutoFit/>
          </a:bodyPr>
          <a:lstStyle/>
          <a:p>
            <a:pPr algn="l">
              <a:lnSpc>
                <a:spcPct val="115000"/>
              </a:lnSpc>
            </a:pPr>
            <a:r>
              <a:rPr sz="2800" b="1">
                <a:solidFill>
                  <a:srgbClr val="1E5A8F"/>
                </a:solidFill>
                <a:latin typeface="Segoe UI Semibold"/>
              </a:rPr>
              <a:t>Lingkar yang tertutup sampai hasil</a:t>
            </a:r>
          </a:p>
        </p:txBody>
      </p:sp>
      <p:sp>
        <p:nvSpPr>
          <p:cNvPr id="4" name="TextBox 3"/>
          <p:cNvSpPr txBox="1"/>
          <p:nvPr/>
        </p:nvSpPr>
        <p:spPr>
          <a:xfrm>
            <a:off x="777240" y="1207008"/>
            <a:ext cx="10607040" cy="457200"/>
          </a:xfrm>
          <a:prstGeom prst="rect">
            <a:avLst/>
          </a:prstGeom>
          <a:noFill/>
        </p:spPr>
        <p:txBody>
          <a:bodyPr wrap="square" anchor="t" lIns="0" rIns="0" tIns="0" bIns="0">
            <a:spAutoFit/>
          </a:bodyPr>
          <a:lstStyle/>
          <a:p>
            <a:pPr algn="l">
              <a:lnSpc>
                <a:spcPct val="115000"/>
              </a:lnSpc>
            </a:pPr>
            <a:r>
              <a:rPr sz="1400" b="0">
                <a:solidFill>
                  <a:srgbClr val="475569"/>
                </a:solidFill>
                <a:latin typeface="Segoe UI"/>
              </a:rPr>
              <a:t>Kebanyakan sistem berhenti pada langkah pertama. Yang membuat langkah kelima mungkin adalah langkah kedua.</a:t>
            </a:r>
          </a:p>
        </p:txBody>
      </p:sp>
      <p:sp>
        <p:nvSpPr>
          <p:cNvPr id="5" name="TextBox 4"/>
          <p:cNvSpPr txBox="1"/>
          <p:nvPr/>
        </p:nvSpPr>
        <p:spPr>
          <a:xfrm>
            <a:off x="11094415" y="6355080"/>
            <a:ext cx="548640" cy="274320"/>
          </a:xfrm>
          <a:prstGeom prst="rect">
            <a:avLst/>
          </a:prstGeom>
          <a:noFill/>
        </p:spPr>
        <p:txBody>
          <a:bodyPr wrap="square" anchor="t" lIns="0" rIns="0" tIns="0" bIns="0">
            <a:spAutoFit/>
          </a:bodyPr>
          <a:lstStyle/>
          <a:p>
            <a:pPr algn="r">
              <a:lnSpc>
                <a:spcPct val="115000"/>
              </a:lnSpc>
            </a:pPr>
            <a:r>
              <a:rPr sz="1000" b="0">
                <a:solidFill>
                  <a:srgbClr val="94A3B8"/>
                </a:solidFill>
                <a:latin typeface="Segoe UI"/>
              </a:rPr>
              <a:t>8</a:t>
            </a:r>
          </a:p>
        </p:txBody>
      </p:sp>
      <p:sp>
        <p:nvSpPr>
          <p:cNvPr id="6" name="Oval 5"/>
          <p:cNvSpPr/>
          <p:nvPr/>
        </p:nvSpPr>
        <p:spPr>
          <a:xfrm>
            <a:off x="777240" y="1947672"/>
            <a:ext cx="118872" cy="118872"/>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24712" y="1828800"/>
            <a:ext cx="10271455" cy="548640"/>
          </a:xfrm>
          <a:prstGeom prst="rect">
            <a:avLst/>
          </a:prstGeom>
          <a:noFill/>
        </p:spPr>
        <p:txBody>
          <a:bodyPr wrap="square" anchor="t" lIns="0" rIns="0" tIns="0" bIns="0">
            <a:spAutoFit/>
          </a:bodyPr>
          <a:lstStyle/>
          <a:p>
            <a:pPr algn="l">
              <a:lnSpc>
                <a:spcPct val="125000"/>
              </a:lnSpc>
            </a:pPr>
            <a:r>
              <a:rPr sz="1700" b="1">
                <a:solidFill>
                  <a:srgbClr val="0F172A"/>
                </a:solidFill>
                <a:latin typeface="Segoe UI Semibold"/>
              </a:rPr>
              <a:t>Deteksi</a:t>
            </a:r>
            <a:r>
              <a:rPr sz="1700" b="0">
                <a:solidFill>
                  <a:srgbClr val="0F172A"/>
                </a:solidFill>
                <a:latin typeface="Segoe UI"/>
              </a:rPr>
              <a:t> — tujuh detektor menemukan ketidaksesuaian, menghasilkan antrean berprioritas beserta alasannya.</a:t>
            </a:r>
          </a:p>
        </p:txBody>
      </p:sp>
      <p:sp>
        <p:nvSpPr>
          <p:cNvPr id="8" name="Oval 7"/>
          <p:cNvSpPr/>
          <p:nvPr/>
        </p:nvSpPr>
        <p:spPr>
          <a:xfrm>
            <a:off x="777240" y="2871470"/>
            <a:ext cx="118872" cy="118872"/>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24712" y="2752598"/>
            <a:ext cx="10271455" cy="548640"/>
          </a:xfrm>
          <a:prstGeom prst="rect">
            <a:avLst/>
          </a:prstGeom>
          <a:noFill/>
        </p:spPr>
        <p:txBody>
          <a:bodyPr wrap="square" anchor="t" lIns="0" rIns="0" tIns="0" bIns="0">
            <a:spAutoFit/>
          </a:bodyPr>
          <a:lstStyle/>
          <a:p>
            <a:pPr algn="l">
              <a:lnSpc>
                <a:spcPct val="125000"/>
              </a:lnSpc>
            </a:pPr>
            <a:r>
              <a:rPr sz="1700" b="1">
                <a:solidFill>
                  <a:srgbClr val="0F172A"/>
                </a:solidFill>
                <a:latin typeface="Segoe UI Semibold"/>
              </a:rPr>
              <a:t>Verifikasi</a:t>
            </a:r>
            <a:r>
              <a:rPr sz="1700" b="0">
                <a:solidFill>
                  <a:srgbClr val="0F172A"/>
                </a:solidFill>
                <a:latin typeface="Segoe UI"/>
              </a:rPr>
              <a:t> — petugas mendatangi dan mencatat temuan, termasuk ketika temuannya bertentangan dengan sistem.</a:t>
            </a:r>
          </a:p>
        </p:txBody>
      </p:sp>
      <p:sp>
        <p:nvSpPr>
          <p:cNvPr id="10" name="Oval 9"/>
          <p:cNvSpPr/>
          <p:nvPr/>
        </p:nvSpPr>
        <p:spPr>
          <a:xfrm>
            <a:off x="777240" y="3795268"/>
            <a:ext cx="118872" cy="118872"/>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24712" y="3676396"/>
            <a:ext cx="10271455" cy="548640"/>
          </a:xfrm>
          <a:prstGeom prst="rect">
            <a:avLst/>
          </a:prstGeom>
          <a:noFill/>
        </p:spPr>
        <p:txBody>
          <a:bodyPr wrap="square" anchor="t" lIns="0" rIns="0" tIns="0" bIns="0">
            <a:spAutoFit/>
          </a:bodyPr>
          <a:lstStyle/>
          <a:p>
            <a:pPr algn="l">
              <a:lnSpc>
                <a:spcPct val="125000"/>
              </a:lnSpc>
            </a:pPr>
            <a:r>
              <a:rPr sz="1700" b="1">
                <a:solidFill>
                  <a:srgbClr val="0F172A"/>
                </a:solidFill>
                <a:latin typeface="Segoe UI Semibold"/>
              </a:rPr>
              <a:t>Intervensi</a:t>
            </a:r>
            <a:r>
              <a:rPr sz="1700" b="0">
                <a:solidFill>
                  <a:srgbClr val="0F172A"/>
                </a:solidFill>
                <a:latin typeface="Segoe UI"/>
              </a:rPr>
              <a:t> — OPD mencatat penyaluran yang benar-benar terjadi.</a:t>
            </a:r>
          </a:p>
        </p:txBody>
      </p:sp>
      <p:sp>
        <p:nvSpPr>
          <p:cNvPr id="12" name="Oval 11"/>
          <p:cNvSpPr/>
          <p:nvPr/>
        </p:nvSpPr>
        <p:spPr>
          <a:xfrm>
            <a:off x="777240" y="4449191"/>
            <a:ext cx="118872" cy="118872"/>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24712" y="4330319"/>
            <a:ext cx="10271455" cy="548640"/>
          </a:xfrm>
          <a:prstGeom prst="rect">
            <a:avLst/>
          </a:prstGeom>
          <a:noFill/>
        </p:spPr>
        <p:txBody>
          <a:bodyPr wrap="square" anchor="t" lIns="0" rIns="0" tIns="0" bIns="0">
            <a:spAutoFit/>
          </a:bodyPr>
          <a:lstStyle/>
          <a:p>
            <a:pPr algn="l">
              <a:lnSpc>
                <a:spcPct val="125000"/>
              </a:lnSpc>
            </a:pPr>
            <a:r>
              <a:rPr sz="1700" b="1">
                <a:solidFill>
                  <a:srgbClr val="0F172A"/>
                </a:solidFill>
                <a:latin typeface="Segoe UI Semibold"/>
              </a:rPr>
              <a:t>Penilaian</a:t>
            </a:r>
            <a:r>
              <a:rPr sz="1700" b="0">
                <a:solidFill>
                  <a:srgbClr val="0F172A"/>
                </a:solidFill>
                <a:latin typeface="Segoe UI"/>
              </a:rPr>
              <a:t> — hasilnya diukur terhadap kondisi keluarga pada gelombang berikutnya, disandingkan dengan kelompok pembanding.</a:t>
            </a:r>
          </a:p>
        </p:txBody>
      </p:sp>
      <p:sp>
        <p:nvSpPr>
          <p:cNvPr id="14" name="Oval 13"/>
          <p:cNvSpPr/>
          <p:nvPr/>
        </p:nvSpPr>
        <p:spPr>
          <a:xfrm>
            <a:off x="777240" y="5372989"/>
            <a:ext cx="118872" cy="118872"/>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24712" y="5254117"/>
            <a:ext cx="10271455" cy="548640"/>
          </a:xfrm>
          <a:prstGeom prst="rect">
            <a:avLst/>
          </a:prstGeom>
          <a:noFill/>
        </p:spPr>
        <p:txBody>
          <a:bodyPr wrap="square" anchor="t" lIns="0" rIns="0" tIns="0" bIns="0">
            <a:spAutoFit/>
          </a:bodyPr>
          <a:lstStyle/>
          <a:p>
            <a:pPr algn="l">
              <a:lnSpc>
                <a:spcPct val="125000"/>
              </a:lnSpc>
            </a:pPr>
            <a:r>
              <a:rPr sz="1700" b="1">
                <a:solidFill>
                  <a:srgbClr val="0F172A"/>
                </a:solidFill>
                <a:latin typeface="Segoe UI Semibold"/>
              </a:rPr>
              <a:t>Umpan balik</a:t>
            </a:r>
            <a:r>
              <a:rPr sz="1700" b="0">
                <a:solidFill>
                  <a:srgbClr val="0F172A"/>
                </a:solidFill>
                <a:latin typeface="Segoe UI"/>
              </a:rPr>
              <a:t> — koreksi petugas menjadi bahan pelatihan ulang model.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1E5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07040" cy="640080"/>
          </a:xfrm>
          <a:prstGeom prst="rect">
            <a:avLst/>
          </a:prstGeom>
          <a:noFill/>
        </p:spPr>
        <p:txBody>
          <a:bodyPr wrap="square" anchor="t" lIns="0" rIns="0" tIns="0" bIns="0">
            <a:spAutoFit/>
          </a:bodyPr>
          <a:lstStyle/>
          <a:p>
            <a:pPr algn="l">
              <a:lnSpc>
                <a:spcPct val="115000"/>
              </a:lnSpc>
            </a:pPr>
            <a:r>
              <a:rPr sz="2800" b="1">
                <a:solidFill>
                  <a:srgbClr val="1E5A8F"/>
                </a:solidFill>
                <a:latin typeface="Segoe UI Semibold"/>
              </a:rPr>
              <a:t>Sepuluh modul, seluruhnya berjalan</a:t>
            </a:r>
          </a:p>
        </p:txBody>
      </p:sp>
      <p:sp>
        <p:nvSpPr>
          <p:cNvPr id="4" name="TextBox 3"/>
          <p:cNvSpPr txBox="1"/>
          <p:nvPr/>
        </p:nvSpPr>
        <p:spPr>
          <a:xfrm>
            <a:off x="777240" y="1207008"/>
            <a:ext cx="10607040" cy="457200"/>
          </a:xfrm>
          <a:prstGeom prst="rect">
            <a:avLst/>
          </a:prstGeom>
          <a:noFill/>
        </p:spPr>
        <p:txBody>
          <a:bodyPr wrap="square" anchor="t" lIns="0" rIns="0" tIns="0" bIns="0">
            <a:spAutoFit/>
          </a:bodyPr>
          <a:lstStyle/>
          <a:p>
            <a:pPr algn="l">
              <a:lnSpc>
                <a:spcPct val="115000"/>
              </a:lnSpc>
            </a:pPr>
            <a:r>
              <a:rPr sz="1400" b="0">
                <a:solidFill>
                  <a:srgbClr val="475569"/>
                </a:solidFill>
                <a:latin typeface="Segoe UI"/>
              </a:rPr>
              <a:t>Proposal menjanjikan delapan. Dua terakhir lahir dari kebutuhan selama pengerjaan.</a:t>
            </a:r>
          </a:p>
        </p:txBody>
      </p:sp>
      <p:sp>
        <p:nvSpPr>
          <p:cNvPr id="5" name="TextBox 4"/>
          <p:cNvSpPr txBox="1"/>
          <p:nvPr/>
        </p:nvSpPr>
        <p:spPr>
          <a:xfrm>
            <a:off x="11094415" y="6355080"/>
            <a:ext cx="548640" cy="274320"/>
          </a:xfrm>
          <a:prstGeom prst="rect">
            <a:avLst/>
          </a:prstGeom>
          <a:noFill/>
        </p:spPr>
        <p:txBody>
          <a:bodyPr wrap="square" anchor="t" lIns="0" rIns="0" tIns="0" bIns="0">
            <a:spAutoFit/>
          </a:bodyPr>
          <a:lstStyle/>
          <a:p>
            <a:pPr algn="r">
              <a:lnSpc>
                <a:spcPct val="115000"/>
              </a:lnSpc>
            </a:pPr>
            <a:r>
              <a:rPr sz="1000" b="0">
                <a:solidFill>
                  <a:srgbClr val="94A3B8"/>
                </a:solidFill>
                <a:latin typeface="Segoe UI"/>
              </a:rPr>
              <a:t>9</a:t>
            </a:r>
          </a:p>
        </p:txBody>
      </p:sp>
      <p:graphicFrame>
        <p:nvGraphicFramePr>
          <p:cNvPr id="6" name="Table 5"/>
          <p:cNvGraphicFramePr>
            <a:graphicFrameLocks noGrp="1"/>
          </p:cNvGraphicFramePr>
          <p:nvPr/>
        </p:nvGraphicFramePr>
        <p:xfrm>
          <a:off x="777240" y="1828800"/>
          <a:ext cx="10637213" cy="4425696"/>
        </p:xfrm>
        <a:graphic>
          <a:graphicData uri="http://schemas.openxmlformats.org/drawingml/2006/table">
            <a:tbl>
              <a:tblPr firstRow="1" bandRow="1">
                <a:tableStyleId>{5C22544A-7EE6-4342-B048-85BDC9FD1C3A}</a:tableStyleId>
              </a:tblPr>
              <a:tblGrid>
                <a:gridCol w="446941"/>
                <a:gridCol w="3039204"/>
                <a:gridCol w="7151068"/>
              </a:tblGrid>
              <a:tr h="402336">
                <a:tc>
                  <a:txBody>
                    <a:bodyPr/>
                    <a:lstStyle/>
                    <a:p>
                      <a:r>
                        <a:rPr sz="1100" b="1">
                          <a:solidFill>
                            <a:srgbClr val="FFFFFF"/>
                          </a:solidFill>
                          <a:latin typeface="Segoe UI Semibold"/>
                        </a:rPr>
                        <a:t/>
                      </a:r>
                    </a:p>
                  </a:txBody>
                  <a:tcPr anchor="ctr">
                    <a:solidFill>
                      <a:srgbClr val="1E5A8F"/>
                    </a:solidFill>
                  </a:tcPr>
                </a:tc>
                <a:tc>
                  <a:txBody>
                    <a:bodyPr/>
                    <a:lstStyle/>
                    <a:p>
                      <a:r>
                        <a:rPr sz="1100" b="1">
                          <a:solidFill>
                            <a:srgbClr val="FFFFFF"/>
                          </a:solidFill>
                          <a:latin typeface="Segoe UI Semibold"/>
                        </a:rPr>
                        <a:t>Modul</a:t>
                      </a:r>
                    </a:p>
                  </a:txBody>
                  <a:tcPr anchor="ctr">
                    <a:solidFill>
                      <a:srgbClr val="1E5A8F"/>
                    </a:solidFill>
                  </a:tcPr>
                </a:tc>
                <a:tc>
                  <a:txBody>
                    <a:bodyPr/>
                    <a:lstStyle/>
                    <a:p>
                      <a:r>
                        <a:rPr sz="1100" b="1">
                          <a:solidFill>
                            <a:srgbClr val="FFFFFF"/>
                          </a:solidFill>
                          <a:latin typeface="Segoe UI Semibold"/>
                        </a:rPr>
                        <a:t>Yang dikerjakannya</a:t>
                      </a:r>
                    </a:p>
                  </a:txBody>
                  <a:tcPr anchor="ctr">
                    <a:solidFill>
                      <a:srgbClr val="1E5A8F"/>
                    </a:solidFill>
                  </a:tcPr>
                </a:tc>
              </a:tr>
              <a:tr h="402336">
                <a:tc>
                  <a:txBody>
                    <a:bodyPr wrap="square"/>
                    <a:lstStyle/>
                    <a:p>
                      <a:r>
                        <a:rPr sz="1100" b="0">
                          <a:solidFill>
                            <a:srgbClr val="0F172A"/>
                          </a:solidFill>
                          <a:latin typeface="Segoe UI"/>
                        </a:rPr>
                        <a:t>1</a:t>
                      </a:r>
                    </a:p>
                  </a:txBody>
                  <a:tcPr anchor="ctr">
                    <a:solidFill>
                      <a:srgbClr val="FFFFFF"/>
                    </a:solidFill>
                  </a:tcPr>
                </a:tc>
                <a:tc>
                  <a:txBody>
                    <a:bodyPr wrap="square"/>
                    <a:lstStyle/>
                    <a:p>
                      <a:r>
                        <a:rPr sz="1100" b="0">
                          <a:solidFill>
                            <a:srgbClr val="0F172A"/>
                          </a:solidFill>
                          <a:latin typeface="Segoe UI"/>
                        </a:rPr>
                        <a:t>Executive Command Center</a:t>
                      </a:r>
                    </a:p>
                  </a:txBody>
                  <a:tcPr anchor="ctr">
                    <a:solidFill>
                      <a:srgbClr val="FFFFFF"/>
                    </a:solidFill>
                  </a:tcPr>
                </a:tc>
                <a:tc>
                  <a:txBody>
                    <a:bodyPr wrap="square"/>
                    <a:lstStyle/>
                    <a:p>
                      <a:r>
                        <a:rPr sz="1100" b="0">
                          <a:solidFill>
                            <a:srgbClr val="0F172A"/>
                          </a:solidFill>
                          <a:latin typeface="Segoe UI"/>
                        </a:rPr>
                        <a:t>Angka pokok kabupaten dalam satu layar</a:t>
                      </a:r>
                    </a:p>
                  </a:txBody>
                  <a:tcPr anchor="ctr">
                    <a:solidFill>
                      <a:srgbClr val="FFFFFF"/>
                    </a:solidFill>
                  </a:tcPr>
                </a:tc>
              </a:tr>
              <a:tr h="402336">
                <a:tc>
                  <a:txBody>
                    <a:bodyPr wrap="square"/>
                    <a:lstStyle/>
                    <a:p>
                      <a:r>
                        <a:rPr sz="1100" b="0">
                          <a:solidFill>
                            <a:srgbClr val="0F172A"/>
                          </a:solidFill>
                          <a:latin typeface="Segoe UI"/>
                        </a:rPr>
                        <a:t>2</a:t>
                      </a:r>
                    </a:p>
                  </a:txBody>
                  <a:tcPr anchor="ctr">
                    <a:solidFill>
                      <a:srgbClr val="F1F5F9"/>
                    </a:solidFill>
                  </a:tcPr>
                </a:tc>
                <a:tc>
                  <a:txBody>
                    <a:bodyPr wrap="square"/>
                    <a:lstStyle/>
                    <a:p>
                      <a:r>
                        <a:rPr sz="1100" b="0">
                          <a:solidFill>
                            <a:srgbClr val="0F172A"/>
                          </a:solidFill>
                          <a:latin typeface="Segoe UI"/>
                        </a:rPr>
                        <a:t>Household Digital Twin</a:t>
                      </a:r>
                    </a:p>
                  </a:txBody>
                  <a:tcPr anchor="ctr">
                    <a:solidFill>
                      <a:srgbClr val="F1F5F9"/>
                    </a:solidFill>
                  </a:tcPr>
                </a:tc>
                <a:tc>
                  <a:txBody>
                    <a:bodyPr wrap="square"/>
                    <a:lstStyle/>
                    <a:p>
                      <a:r>
                        <a:rPr sz="1100" b="0">
                          <a:solidFill>
                            <a:srgbClr val="0F172A"/>
                          </a:solidFill>
                          <a:latin typeface="Segoe UI"/>
                        </a:rPr>
                        <a:t>Profil keluarga sepanjang enam gelombang</a:t>
                      </a:r>
                    </a:p>
                  </a:txBody>
                  <a:tcPr anchor="ctr">
                    <a:solidFill>
                      <a:srgbClr val="F1F5F9"/>
                    </a:solidFill>
                  </a:tcPr>
                </a:tc>
              </a:tr>
              <a:tr h="402336">
                <a:tc>
                  <a:txBody>
                    <a:bodyPr wrap="square"/>
                    <a:lstStyle/>
                    <a:p>
                      <a:r>
                        <a:rPr sz="1100" b="0">
                          <a:solidFill>
                            <a:srgbClr val="0F172A"/>
                          </a:solidFill>
                          <a:latin typeface="Segoe UI"/>
                        </a:rPr>
                        <a:t>3</a:t>
                      </a:r>
                    </a:p>
                  </a:txBody>
                  <a:tcPr anchor="ctr">
                    <a:solidFill>
                      <a:srgbClr val="FFFFFF"/>
                    </a:solidFill>
                  </a:tcPr>
                </a:tc>
                <a:tc>
                  <a:txBody>
                    <a:bodyPr wrap="square"/>
                    <a:lstStyle/>
                    <a:p>
                      <a:r>
                        <a:rPr sz="1100" b="0">
                          <a:solidFill>
                            <a:srgbClr val="0F172A"/>
                          </a:solidFill>
                          <a:latin typeface="Segoe UI"/>
                        </a:rPr>
                        <a:t>GeoAI Poverty Radar</a:t>
                      </a:r>
                    </a:p>
                  </a:txBody>
                  <a:tcPr anchor="ctr">
                    <a:solidFill>
                      <a:srgbClr val="FFFFFF"/>
                    </a:solidFill>
                  </a:tcPr>
                </a:tc>
                <a:tc>
                  <a:txBody>
                    <a:bodyPr wrap="square"/>
                    <a:lstStyle/>
                    <a:p>
                      <a:r>
                        <a:rPr sz="1100" b="0">
                          <a:solidFill>
                            <a:srgbClr val="0F172A"/>
                          </a:solidFill>
                          <a:latin typeface="Segoe UI"/>
                        </a:rPr>
                        <a:t>Peta batas desa asli dari Badan Informasi Geospasial</a:t>
                      </a:r>
                    </a:p>
                  </a:txBody>
                  <a:tcPr anchor="ctr">
                    <a:solidFill>
                      <a:srgbClr val="FFFFFF"/>
                    </a:solidFill>
                  </a:tcPr>
                </a:tc>
              </a:tr>
              <a:tr h="402336">
                <a:tc>
                  <a:txBody>
                    <a:bodyPr wrap="square"/>
                    <a:lstStyle/>
                    <a:p>
                      <a:r>
                        <a:rPr sz="1100" b="0">
                          <a:solidFill>
                            <a:srgbClr val="0F172A"/>
                          </a:solidFill>
                          <a:latin typeface="Segoe UI"/>
                        </a:rPr>
                        <a:t>4</a:t>
                      </a:r>
                    </a:p>
                  </a:txBody>
                  <a:tcPr anchor="ctr">
                    <a:solidFill>
                      <a:srgbClr val="F1F5F9"/>
                    </a:solidFill>
                  </a:tcPr>
                </a:tc>
                <a:tc>
                  <a:txBody>
                    <a:bodyPr wrap="square"/>
                    <a:lstStyle/>
                    <a:p>
                      <a:r>
                        <a:rPr sz="1100" b="0">
                          <a:solidFill>
                            <a:srgbClr val="0F172A"/>
                          </a:solidFill>
                          <a:latin typeface="Segoe UI"/>
                        </a:rPr>
                        <a:t>Mismatch &amp; Anomaly Queue</a:t>
                      </a:r>
                    </a:p>
                  </a:txBody>
                  <a:tcPr anchor="ctr">
                    <a:solidFill>
                      <a:srgbClr val="F1F5F9"/>
                    </a:solidFill>
                  </a:tcPr>
                </a:tc>
                <a:tc>
                  <a:txBody>
                    <a:bodyPr wrap="square"/>
                    <a:lstStyle/>
                    <a:p>
                      <a:r>
                        <a:rPr sz="1100" b="0">
                          <a:solidFill>
                            <a:srgbClr val="0F172A"/>
                          </a:solidFill>
                          <a:latin typeface="Segoe UI"/>
                        </a:rPr>
                        <a:t>Tujuh detektor, antrean berprioritas</a:t>
                      </a:r>
                    </a:p>
                  </a:txBody>
                  <a:tcPr anchor="ctr">
                    <a:solidFill>
                      <a:srgbClr val="F1F5F9"/>
                    </a:solidFill>
                  </a:tcPr>
                </a:tc>
              </a:tr>
              <a:tr h="402336">
                <a:tc>
                  <a:txBody>
                    <a:bodyPr wrap="square"/>
                    <a:lstStyle/>
                    <a:p>
                      <a:r>
                        <a:rPr sz="1100" b="0">
                          <a:solidFill>
                            <a:srgbClr val="0F172A"/>
                          </a:solidFill>
                          <a:latin typeface="Segoe UI"/>
                        </a:rPr>
                        <a:t>5</a:t>
                      </a:r>
                    </a:p>
                  </a:txBody>
                  <a:tcPr anchor="ctr">
                    <a:solidFill>
                      <a:srgbClr val="FFFFFF"/>
                    </a:solidFill>
                  </a:tcPr>
                </a:tc>
                <a:tc>
                  <a:txBody>
                    <a:bodyPr wrap="square"/>
                    <a:lstStyle/>
                    <a:p>
                      <a:r>
                        <a:rPr sz="1100" b="0">
                          <a:solidFill>
                            <a:srgbClr val="0F172A"/>
                          </a:solidFill>
                          <a:latin typeface="Segoe UI"/>
                        </a:rPr>
                        <a:t>Intervention Recommender</a:t>
                      </a:r>
                    </a:p>
                  </a:txBody>
                  <a:tcPr anchor="ctr">
                    <a:solidFill>
                      <a:srgbClr val="FFFFFF"/>
                    </a:solidFill>
                  </a:tcPr>
                </a:tc>
                <a:tc>
                  <a:txBody>
                    <a:bodyPr wrap="square"/>
                    <a:lstStyle/>
                    <a:p>
                      <a:r>
                        <a:rPr sz="1100" b="0">
                          <a:solidFill>
                            <a:srgbClr val="0F172A"/>
                          </a:solidFill>
                          <a:latin typeface="Segoe UI"/>
                        </a:rPr>
                        <a:t>Mencocokkan risiko dengan 28 program</a:t>
                      </a:r>
                    </a:p>
                  </a:txBody>
                  <a:tcPr anchor="ctr">
                    <a:solidFill>
                      <a:srgbClr val="FFFFFF"/>
                    </a:solidFill>
                  </a:tcPr>
                </a:tc>
              </a:tr>
              <a:tr h="402336">
                <a:tc>
                  <a:txBody>
                    <a:bodyPr wrap="square"/>
                    <a:lstStyle/>
                    <a:p>
                      <a:r>
                        <a:rPr sz="1100" b="0">
                          <a:solidFill>
                            <a:srgbClr val="0F172A"/>
                          </a:solidFill>
                          <a:latin typeface="Segoe UI"/>
                        </a:rPr>
                        <a:t>6</a:t>
                      </a:r>
                    </a:p>
                  </a:txBody>
                  <a:tcPr anchor="ctr">
                    <a:solidFill>
                      <a:srgbClr val="F1F5F9"/>
                    </a:solidFill>
                  </a:tcPr>
                </a:tc>
                <a:tc>
                  <a:txBody>
                    <a:bodyPr wrap="square"/>
                    <a:lstStyle/>
                    <a:p>
                      <a:r>
                        <a:rPr sz="1100" b="0">
                          <a:solidFill>
                            <a:srgbClr val="0F172A"/>
                          </a:solidFill>
                          <a:latin typeface="Segoe UI"/>
                        </a:rPr>
                        <a:t>What-if Policy Simulator</a:t>
                      </a:r>
                    </a:p>
                  </a:txBody>
                  <a:tcPr anchor="ctr">
                    <a:solidFill>
                      <a:srgbClr val="F1F5F9"/>
                    </a:solidFill>
                  </a:tcPr>
                </a:tc>
                <a:tc>
                  <a:txBody>
                    <a:bodyPr wrap="square"/>
                    <a:lstStyle/>
                    <a:p>
                      <a:r>
                        <a:rPr sz="1100" b="0">
                          <a:solidFill>
                            <a:srgbClr val="0F172A"/>
                          </a:solidFill>
                          <a:latin typeface="Segoe UI"/>
                        </a:rPr>
                        <a:t>Cakupan, biaya, kapasitas, penuntasan RTLH</a:t>
                      </a:r>
                    </a:p>
                  </a:txBody>
                  <a:tcPr anchor="ctr">
                    <a:solidFill>
                      <a:srgbClr val="F1F5F9"/>
                    </a:solidFill>
                  </a:tcPr>
                </a:tc>
              </a:tr>
              <a:tr h="402336">
                <a:tc>
                  <a:txBody>
                    <a:bodyPr wrap="square"/>
                    <a:lstStyle/>
                    <a:p>
                      <a:r>
                        <a:rPr sz="1100" b="0">
                          <a:solidFill>
                            <a:srgbClr val="0F172A"/>
                          </a:solidFill>
                          <a:latin typeface="Segoe UI"/>
                        </a:rPr>
                        <a:t>7</a:t>
                      </a:r>
                    </a:p>
                  </a:txBody>
                  <a:tcPr anchor="ctr">
                    <a:solidFill>
                      <a:srgbClr val="FFFFFF"/>
                    </a:solidFill>
                  </a:tcPr>
                </a:tc>
                <a:tc>
                  <a:txBody>
                    <a:bodyPr wrap="square"/>
                    <a:lstStyle/>
                    <a:p>
                      <a:r>
                        <a:rPr sz="1100" b="0">
                          <a:solidFill>
                            <a:srgbClr val="0F172A"/>
                          </a:solidFill>
                          <a:latin typeface="Segoe UI"/>
                        </a:rPr>
                        <a:t>AI Policy Copilot</a:t>
                      </a:r>
                    </a:p>
                  </a:txBody>
                  <a:tcPr anchor="ctr">
                    <a:solidFill>
                      <a:srgbClr val="FFFFFF"/>
                    </a:solidFill>
                  </a:tcPr>
                </a:tc>
                <a:tc>
                  <a:txBody>
                    <a:bodyPr wrap="square"/>
                    <a:lstStyle/>
                    <a:p>
                      <a:r>
                        <a:rPr sz="1100" b="0">
                          <a:solidFill>
                            <a:srgbClr val="0F172A"/>
                          </a:solidFill>
                          <a:latin typeface="Segoe UI"/>
                        </a:rPr>
                        <a:t>Tanya jawab dengan sumber, penghalang data pribadi</a:t>
                      </a:r>
                    </a:p>
                  </a:txBody>
                  <a:tcPr anchor="ctr">
                    <a:solidFill>
                      <a:srgbClr val="FFFFFF"/>
                    </a:solidFill>
                  </a:tcPr>
                </a:tc>
              </a:tr>
              <a:tr h="402336">
                <a:tc>
                  <a:txBody>
                    <a:bodyPr wrap="square"/>
                    <a:lstStyle/>
                    <a:p>
                      <a:r>
                        <a:rPr sz="1100" b="0">
                          <a:solidFill>
                            <a:srgbClr val="0F172A"/>
                          </a:solidFill>
                          <a:latin typeface="Segoe UI"/>
                        </a:rPr>
                        <a:t>8</a:t>
                      </a:r>
                    </a:p>
                  </a:txBody>
                  <a:tcPr anchor="ctr">
                    <a:solidFill>
                      <a:srgbClr val="F1F5F9"/>
                    </a:solidFill>
                  </a:tcPr>
                </a:tc>
                <a:tc>
                  <a:txBody>
                    <a:bodyPr wrap="square"/>
                    <a:lstStyle/>
                    <a:p>
                      <a:r>
                        <a:rPr sz="1100" b="0">
                          <a:solidFill>
                            <a:srgbClr val="0F172A"/>
                          </a:solidFill>
                          <a:latin typeface="Segoe UI"/>
                        </a:rPr>
                        <a:t>Outcome Monitoring</a:t>
                      </a:r>
                    </a:p>
                  </a:txBody>
                  <a:tcPr anchor="ctr">
                    <a:solidFill>
                      <a:srgbClr val="F1F5F9"/>
                    </a:solidFill>
                  </a:tcPr>
                </a:tc>
                <a:tc>
                  <a:txBody>
                    <a:bodyPr wrap="square"/>
                    <a:lstStyle/>
                    <a:p>
                      <a:r>
                        <a:rPr sz="1100" b="0">
                          <a:solidFill>
                            <a:srgbClr val="0F172A"/>
                          </a:solidFill>
                          <a:latin typeface="Segoe UI"/>
                        </a:rPr>
                        <a:t>Capaian dengan kelompok pembanding</a:t>
                      </a:r>
                    </a:p>
                  </a:txBody>
                  <a:tcPr anchor="ctr">
                    <a:solidFill>
                      <a:srgbClr val="F1F5F9"/>
                    </a:solidFill>
                  </a:tcPr>
                </a:tc>
              </a:tr>
              <a:tr h="402336">
                <a:tc>
                  <a:txBody>
                    <a:bodyPr wrap="square"/>
                    <a:lstStyle/>
                    <a:p>
                      <a:r>
                        <a:rPr sz="1100" b="0">
                          <a:solidFill>
                            <a:srgbClr val="0F172A"/>
                          </a:solidFill>
                          <a:latin typeface="Segoe UI"/>
                        </a:rPr>
                        <a:t>9</a:t>
                      </a:r>
                    </a:p>
                  </a:txBody>
                  <a:tcPr anchor="ctr">
                    <a:solidFill>
                      <a:srgbClr val="FFFFFF"/>
                    </a:solidFill>
                  </a:tcPr>
                </a:tc>
                <a:tc>
                  <a:txBody>
                    <a:bodyPr wrap="square"/>
                    <a:lstStyle/>
                    <a:p>
                      <a:r>
                        <a:rPr sz="1100" b="0">
                          <a:solidFill>
                            <a:srgbClr val="0F172A"/>
                          </a:solidFill>
                          <a:latin typeface="Segoe UI"/>
                        </a:rPr>
                        <a:t>Transparansi Model</a:t>
                      </a:r>
                    </a:p>
                  </a:txBody>
                  <a:tcPr anchor="ctr">
                    <a:solidFill>
                      <a:srgbClr val="FFFFFF"/>
                    </a:solidFill>
                  </a:tcPr>
                </a:tc>
                <a:tc>
                  <a:txBody>
                    <a:bodyPr wrap="square"/>
                    <a:lstStyle/>
                    <a:p>
                      <a:r>
                        <a:rPr sz="1100" b="1">
                          <a:solidFill>
                            <a:srgbClr val="0F172A"/>
                          </a:solidFill>
                          <a:latin typeface="Segoe UI Semibold"/>
                        </a:rPr>
                        <a:t>Tambahan</a:t>
                      </a:r>
                      <a:r>
                        <a:rPr sz="1100" b="0">
                          <a:solidFill>
                            <a:srgbClr val="0F172A"/>
                          </a:solidFill>
                          <a:latin typeface="Segoe UI"/>
                        </a:rPr>
                        <a:t> — metrik, keadilan, dan batasnya</a:t>
                      </a:r>
                    </a:p>
                  </a:txBody>
                  <a:tcPr anchor="ctr">
                    <a:solidFill>
                      <a:srgbClr val="FFFFFF"/>
                    </a:solidFill>
                  </a:tcPr>
                </a:tc>
              </a:tr>
              <a:tr h="402336">
                <a:tc>
                  <a:txBody>
                    <a:bodyPr wrap="square"/>
                    <a:lstStyle/>
                    <a:p>
                      <a:r>
                        <a:rPr sz="1100" b="0">
                          <a:solidFill>
                            <a:srgbClr val="0F172A"/>
                          </a:solidFill>
                          <a:latin typeface="Segoe UI"/>
                        </a:rPr>
                        <a:t>10</a:t>
                      </a:r>
                    </a:p>
                  </a:txBody>
                  <a:tcPr anchor="ctr">
                    <a:solidFill>
                      <a:srgbClr val="F1F5F9"/>
                    </a:solidFill>
                  </a:tcPr>
                </a:tc>
                <a:tc>
                  <a:txBody>
                    <a:bodyPr wrap="square"/>
                    <a:lstStyle/>
                    <a:p>
                      <a:r>
                        <a:rPr sz="1100" b="0">
                          <a:solidFill>
                            <a:srgbClr val="0F172A"/>
                          </a:solidFill>
                          <a:latin typeface="Segoe UI"/>
                        </a:rPr>
                        <a:t>Pengaturan Layanan AI</a:t>
                      </a:r>
                    </a:p>
                  </a:txBody>
                  <a:tcPr anchor="ctr">
                    <a:solidFill>
                      <a:srgbClr val="F1F5F9"/>
                    </a:solidFill>
                  </a:tcPr>
                </a:tc>
                <a:tc>
                  <a:txBody>
                    <a:bodyPr wrap="square"/>
                    <a:lstStyle/>
                    <a:p>
                      <a:r>
                        <a:rPr sz="1100" b="1">
                          <a:solidFill>
                            <a:srgbClr val="0F172A"/>
                          </a:solidFill>
                          <a:latin typeface="Segoe UI Semibold"/>
                        </a:rPr>
                        <a:t>Tambahan</a:t>
                      </a:r>
                      <a:r>
                        <a:rPr sz="1100" b="0">
                          <a:solidFill>
                            <a:srgbClr val="0F172A"/>
                          </a:solidFill>
                          <a:latin typeface="Segoe UI"/>
                        </a:rPr>
                        <a:t> — termasuk pilihan model lokal</a:t>
                      </a:r>
                    </a:p>
                  </a:txBody>
                  <a:tcPr anchor="ctr">
                    <a:solidFill>
                      <a:srgbClr val="F1F5F9"/>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1E5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07040" cy="640080"/>
          </a:xfrm>
          <a:prstGeom prst="rect">
            <a:avLst/>
          </a:prstGeom>
          <a:noFill/>
        </p:spPr>
        <p:txBody>
          <a:bodyPr wrap="square" anchor="t" lIns="0" rIns="0" tIns="0" bIns="0">
            <a:spAutoFit/>
          </a:bodyPr>
          <a:lstStyle/>
          <a:p>
            <a:pPr algn="l">
              <a:lnSpc>
                <a:spcPct val="115000"/>
              </a:lnSpc>
            </a:pPr>
            <a:r>
              <a:rPr sz="2800" b="1">
                <a:solidFill>
                  <a:srgbClr val="1E5A8F"/>
                </a:solidFill>
                <a:latin typeface="Segoe UI Semibold"/>
              </a:rPr>
              <a:t>Peta Risiko</a:t>
            </a:r>
          </a:p>
        </p:txBody>
      </p:sp>
      <p:sp>
        <p:nvSpPr>
          <p:cNvPr id="4" name="TextBox 3"/>
          <p:cNvSpPr txBox="1"/>
          <p:nvPr/>
        </p:nvSpPr>
        <p:spPr>
          <a:xfrm>
            <a:off x="777240" y="1207008"/>
            <a:ext cx="10607040" cy="457200"/>
          </a:xfrm>
          <a:prstGeom prst="rect">
            <a:avLst/>
          </a:prstGeom>
          <a:noFill/>
        </p:spPr>
        <p:txBody>
          <a:bodyPr wrap="square" anchor="t" lIns="0" rIns="0" tIns="0" bIns="0">
            <a:spAutoFit/>
          </a:bodyPr>
          <a:lstStyle/>
          <a:p>
            <a:pPr algn="l">
              <a:lnSpc>
                <a:spcPct val="115000"/>
              </a:lnSpc>
            </a:pPr>
            <a:r>
              <a:rPr sz="1400" b="0">
                <a:solidFill>
                  <a:srgbClr val="475569"/>
                </a:solidFill>
                <a:latin typeface="Segoe UI"/>
              </a:rPr>
              <a:t>Batas 131 desa dari Badan Informasi Geospasial, bukan bentuk perkiraan.</a:t>
            </a:r>
          </a:p>
        </p:txBody>
      </p:sp>
      <p:sp>
        <p:nvSpPr>
          <p:cNvPr id="5" name="TextBox 4"/>
          <p:cNvSpPr txBox="1"/>
          <p:nvPr/>
        </p:nvSpPr>
        <p:spPr>
          <a:xfrm>
            <a:off x="11094415" y="6355080"/>
            <a:ext cx="548640" cy="274320"/>
          </a:xfrm>
          <a:prstGeom prst="rect">
            <a:avLst/>
          </a:prstGeom>
          <a:noFill/>
        </p:spPr>
        <p:txBody>
          <a:bodyPr wrap="square" anchor="t" lIns="0" rIns="0" tIns="0" bIns="0">
            <a:spAutoFit/>
          </a:bodyPr>
          <a:lstStyle/>
          <a:p>
            <a:pPr algn="r">
              <a:lnSpc>
                <a:spcPct val="115000"/>
              </a:lnSpc>
            </a:pPr>
            <a:r>
              <a:rPr sz="1000" b="0">
                <a:solidFill>
                  <a:srgbClr val="94A3B8"/>
                </a:solidFill>
                <a:latin typeface="Segoe UI"/>
              </a:rPr>
              <a:t>10</a:t>
            </a:r>
          </a:p>
        </p:txBody>
      </p:sp>
      <p:sp>
        <p:nvSpPr>
          <p:cNvPr id="6" name="Rounded Rectangle 5"/>
          <p:cNvSpPr/>
          <p:nvPr/>
        </p:nvSpPr>
        <p:spPr>
          <a:xfrm>
            <a:off x="777240" y="1828800"/>
            <a:ext cx="10637215" cy="4297680"/>
          </a:xfrm>
          <a:prstGeom prst="roundRect">
            <a:avLst/>
          </a:prstGeom>
          <a:solidFill>
            <a:srgbClr val="F1F5F9"/>
          </a:solidFill>
          <a:ln w="19050">
            <a:solidFill>
              <a:srgbClr val="CBD5E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3611880"/>
            <a:ext cx="10637215" cy="822960"/>
          </a:xfrm>
          <a:prstGeom prst="rect">
            <a:avLst/>
          </a:prstGeom>
          <a:noFill/>
        </p:spPr>
        <p:txBody>
          <a:bodyPr wrap="square" anchor="t" lIns="0" rIns="0" tIns="0" bIns="0">
            <a:spAutoFit/>
          </a:bodyPr>
          <a:lstStyle/>
          <a:p>
            <a:pPr algn="ctr">
              <a:lnSpc>
                <a:spcPct val="115000"/>
              </a:lnSpc>
            </a:pPr>
            <a:r>
              <a:rPr sz="1500" b="0">
                <a:solidFill>
                  <a:srgbClr val="94A3B8"/>
                </a:solidFill>
                <a:latin typeface="Segoe UI"/>
              </a:rPr>
              <a:t>[ Sisipkan tangkapan layar: halaman Peta Risiko, pilih ukuran “Skor kerentanan rata-rata”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1E5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07040" cy="640080"/>
          </a:xfrm>
          <a:prstGeom prst="rect">
            <a:avLst/>
          </a:prstGeom>
          <a:noFill/>
        </p:spPr>
        <p:txBody>
          <a:bodyPr wrap="square" anchor="t" lIns="0" rIns="0" tIns="0" bIns="0">
            <a:spAutoFit/>
          </a:bodyPr>
          <a:lstStyle/>
          <a:p>
            <a:pPr algn="l">
              <a:lnSpc>
                <a:spcPct val="115000"/>
              </a:lnSpc>
            </a:pPr>
            <a:r>
              <a:rPr sz="2800" b="1">
                <a:solidFill>
                  <a:srgbClr val="1E5A8F"/>
                </a:solidFill>
                <a:latin typeface="Segoe UI Semibold"/>
              </a:rPr>
              <a:t>Antrean Kasus</a:t>
            </a:r>
          </a:p>
        </p:txBody>
      </p:sp>
      <p:sp>
        <p:nvSpPr>
          <p:cNvPr id="4" name="TextBox 3"/>
          <p:cNvSpPr txBox="1"/>
          <p:nvPr/>
        </p:nvSpPr>
        <p:spPr>
          <a:xfrm>
            <a:off x="777240" y="1207008"/>
            <a:ext cx="10607040" cy="457200"/>
          </a:xfrm>
          <a:prstGeom prst="rect">
            <a:avLst/>
          </a:prstGeom>
          <a:noFill/>
        </p:spPr>
        <p:txBody>
          <a:bodyPr wrap="square" anchor="t" lIns="0" rIns="0" tIns="0" bIns="0">
            <a:spAutoFit/>
          </a:bodyPr>
          <a:lstStyle/>
          <a:p>
            <a:pPr algn="l">
              <a:lnSpc>
                <a:spcPct val="115000"/>
              </a:lnSpc>
            </a:pPr>
            <a:r>
              <a:rPr sz="1400" b="0">
                <a:solidFill>
                  <a:srgbClr val="475569"/>
                </a:solidFill>
                <a:latin typeface="Segoe UI"/>
              </a:rPr>
              <a:t>Setiap kasus membawa alasan, OPD yang berwenang, dan program yang diusulkan.</a:t>
            </a:r>
          </a:p>
        </p:txBody>
      </p:sp>
      <p:sp>
        <p:nvSpPr>
          <p:cNvPr id="5" name="TextBox 4"/>
          <p:cNvSpPr txBox="1"/>
          <p:nvPr/>
        </p:nvSpPr>
        <p:spPr>
          <a:xfrm>
            <a:off x="11094415" y="6355080"/>
            <a:ext cx="548640" cy="274320"/>
          </a:xfrm>
          <a:prstGeom prst="rect">
            <a:avLst/>
          </a:prstGeom>
          <a:noFill/>
        </p:spPr>
        <p:txBody>
          <a:bodyPr wrap="square" anchor="t" lIns="0" rIns="0" tIns="0" bIns="0">
            <a:spAutoFit/>
          </a:bodyPr>
          <a:lstStyle/>
          <a:p>
            <a:pPr algn="r">
              <a:lnSpc>
                <a:spcPct val="115000"/>
              </a:lnSpc>
            </a:pPr>
            <a:r>
              <a:rPr sz="1000" b="0">
                <a:solidFill>
                  <a:srgbClr val="94A3B8"/>
                </a:solidFill>
                <a:latin typeface="Segoe UI"/>
              </a:rPr>
              <a:t>11</a:t>
            </a:r>
          </a:p>
        </p:txBody>
      </p:sp>
      <p:sp>
        <p:nvSpPr>
          <p:cNvPr id="6" name="Rounded Rectangle 5"/>
          <p:cNvSpPr/>
          <p:nvPr/>
        </p:nvSpPr>
        <p:spPr>
          <a:xfrm>
            <a:off x="777240" y="1828800"/>
            <a:ext cx="10637215" cy="4297680"/>
          </a:xfrm>
          <a:prstGeom prst="roundRect">
            <a:avLst/>
          </a:prstGeom>
          <a:solidFill>
            <a:srgbClr val="F1F5F9"/>
          </a:solidFill>
          <a:ln w="19050">
            <a:solidFill>
              <a:srgbClr val="CBD5E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3611880"/>
            <a:ext cx="10637215" cy="822960"/>
          </a:xfrm>
          <a:prstGeom prst="rect">
            <a:avLst/>
          </a:prstGeom>
          <a:noFill/>
        </p:spPr>
        <p:txBody>
          <a:bodyPr wrap="square" anchor="t" lIns="0" rIns="0" tIns="0" bIns="0">
            <a:spAutoFit/>
          </a:bodyPr>
          <a:lstStyle/>
          <a:p>
            <a:pPr algn="ctr">
              <a:lnSpc>
                <a:spcPct val="115000"/>
              </a:lnSpc>
            </a:pPr>
            <a:r>
              <a:rPr sz="1500" b="0">
                <a:solidFill>
                  <a:srgbClr val="94A3B8"/>
                </a:solidFill>
                <a:latin typeface="Segoe UI"/>
              </a:rPr>
              <a:t>[ Sisipkan tangkapan layar: halaman Antrean Kasus, buka satu kasus sampai terlihat faktor risikonya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E5A8F"/>
        </a:solidFill>
        <a:effectLst/>
      </p:bgPr>
    </p:bg>
    <p:spTree>
      <p:nvGrpSpPr>
        <p:cNvPr id="1" name=""/>
        <p:cNvGrpSpPr/>
        <p:nvPr/>
      </p:nvGrpSpPr>
      <p:grpSpPr/>
      <p:sp>
        <p:nvSpPr>
          <p:cNvPr id="2" name="TextBox 1"/>
          <p:cNvSpPr txBox="1"/>
          <p:nvPr/>
        </p:nvSpPr>
        <p:spPr>
          <a:xfrm>
            <a:off x="777240" y="2377440"/>
            <a:ext cx="1371600" cy="822960"/>
          </a:xfrm>
          <a:prstGeom prst="rect">
            <a:avLst/>
          </a:prstGeom>
          <a:noFill/>
        </p:spPr>
        <p:txBody>
          <a:bodyPr wrap="square" anchor="t" lIns="0" rIns="0" tIns="0" bIns="0">
            <a:spAutoFit/>
          </a:bodyPr>
          <a:lstStyle/>
          <a:p>
            <a:pPr algn="l">
              <a:lnSpc>
                <a:spcPct val="115000"/>
              </a:lnSpc>
            </a:pPr>
            <a:r>
              <a:rPr sz="5400" b="1">
                <a:solidFill>
                  <a:srgbClr val="7FA8CC"/>
                </a:solidFill>
                <a:latin typeface="Segoe UI Semibold"/>
              </a:rPr>
              <a:t>03</a:t>
            </a:r>
          </a:p>
        </p:txBody>
      </p:sp>
      <p:sp>
        <p:nvSpPr>
          <p:cNvPr id="3" name="TextBox 2"/>
          <p:cNvSpPr txBox="1"/>
          <p:nvPr/>
        </p:nvSpPr>
        <p:spPr>
          <a:xfrm>
            <a:off x="777240" y="3200400"/>
            <a:ext cx="10515600" cy="1097280"/>
          </a:xfrm>
          <a:prstGeom prst="rect">
            <a:avLst/>
          </a:prstGeom>
          <a:noFill/>
        </p:spPr>
        <p:txBody>
          <a:bodyPr wrap="square" anchor="t" lIns="0" rIns="0" tIns="0" bIns="0">
            <a:spAutoFit/>
          </a:bodyPr>
          <a:lstStyle/>
          <a:p>
            <a:pPr algn="l">
              <a:lnSpc>
                <a:spcPct val="115000"/>
              </a:lnSpc>
            </a:pPr>
            <a:r>
              <a:rPr sz="4000" b="1">
                <a:solidFill>
                  <a:srgbClr val="FFFFFF"/>
                </a:solidFill>
                <a:latin typeface="Segoe UI Semibold"/>
              </a:rPr>
              <a:t>Buktinya</a:t>
            </a:r>
          </a:p>
        </p:txBody>
      </p:sp>
      <p:sp>
        <p:nvSpPr>
          <p:cNvPr id="4" name="TextBox 3"/>
          <p:cNvSpPr txBox="1"/>
          <p:nvPr/>
        </p:nvSpPr>
        <p:spPr>
          <a:xfrm>
            <a:off x="777240" y="4343400"/>
            <a:ext cx="9601200" cy="731520"/>
          </a:xfrm>
          <a:prstGeom prst="rect">
            <a:avLst/>
          </a:prstGeom>
          <a:noFill/>
        </p:spPr>
        <p:txBody>
          <a:bodyPr wrap="square" anchor="t" lIns="0" rIns="0" tIns="0" bIns="0">
            <a:spAutoFit/>
          </a:bodyPr>
          <a:lstStyle/>
          <a:p>
            <a:pPr algn="l">
              <a:lnSpc>
                <a:spcPct val="115000"/>
              </a:lnSpc>
            </a:pPr>
            <a:r>
              <a:rPr sz="1700" b="0">
                <a:solidFill>
                  <a:srgbClr val="C7DAEE"/>
                </a:solidFill>
                <a:latin typeface="Segoe UI"/>
              </a:rPr>
              <a:t>Angka yang saya sampaikan, beserta batas yang saya akui.</a:t>
            </a:r>
          </a:p>
        </p:txBody>
      </p:sp>
      <p:sp>
        <p:nvSpPr>
          <p:cNvPr id="5" name="TextBox 4"/>
          <p:cNvSpPr txBox="1"/>
          <p:nvPr/>
        </p:nvSpPr>
        <p:spPr>
          <a:xfrm>
            <a:off x="11094415" y="6355080"/>
            <a:ext cx="548640" cy="274320"/>
          </a:xfrm>
          <a:prstGeom prst="rect">
            <a:avLst/>
          </a:prstGeom>
          <a:noFill/>
        </p:spPr>
        <p:txBody>
          <a:bodyPr wrap="square" anchor="t" lIns="0" rIns="0" tIns="0" bIns="0">
            <a:spAutoFit/>
          </a:bodyPr>
          <a:lstStyle/>
          <a:p>
            <a:pPr algn="r">
              <a:lnSpc>
                <a:spcPct val="115000"/>
              </a:lnSpc>
            </a:pPr>
            <a:r>
              <a:rPr sz="1000" b="0">
                <a:solidFill>
                  <a:srgbClr val="94A3B8"/>
                </a:solidFill>
                <a:latin typeface="Segoe U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1E5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07040" cy="640080"/>
          </a:xfrm>
          <a:prstGeom prst="rect">
            <a:avLst/>
          </a:prstGeom>
          <a:noFill/>
        </p:spPr>
        <p:txBody>
          <a:bodyPr wrap="square" anchor="t" lIns="0" rIns="0" tIns="0" bIns="0">
            <a:spAutoFit/>
          </a:bodyPr>
          <a:lstStyle/>
          <a:p>
            <a:pPr algn="l">
              <a:lnSpc>
                <a:spcPct val="115000"/>
              </a:lnSpc>
            </a:pPr>
            <a:r>
              <a:rPr sz="2800" b="1">
                <a:solidFill>
                  <a:srgbClr val="1E5A8F"/>
                </a:solidFill>
                <a:latin typeface="Segoe UI Semibold"/>
              </a:rPr>
              <a:t>Kalau hanya ada tenaga untuk 300 kunjungan bulan ini</a:t>
            </a:r>
          </a:p>
        </p:txBody>
      </p:sp>
      <p:sp>
        <p:nvSpPr>
          <p:cNvPr id="4" name="TextBox 3"/>
          <p:cNvSpPr txBox="1"/>
          <p:nvPr/>
        </p:nvSpPr>
        <p:spPr>
          <a:xfrm>
            <a:off x="777240" y="1207008"/>
            <a:ext cx="10607040" cy="457200"/>
          </a:xfrm>
          <a:prstGeom prst="rect">
            <a:avLst/>
          </a:prstGeom>
          <a:noFill/>
        </p:spPr>
        <p:txBody>
          <a:bodyPr wrap="square" anchor="t" lIns="0" rIns="0" tIns="0" bIns="0">
            <a:spAutoFit/>
          </a:bodyPr>
          <a:lstStyle/>
          <a:p>
            <a:pPr algn="l">
              <a:lnSpc>
                <a:spcPct val="115000"/>
              </a:lnSpc>
            </a:pPr>
            <a:r>
              <a:rPr sz="1400" b="0">
                <a:solidFill>
                  <a:srgbClr val="475569"/>
                </a:solidFill>
                <a:latin typeface="Segoe UI"/>
              </a:rPr>
              <a:t>Angka di dalam batang menunjukkan berapa kali lebih baik daripada memilih keluarga secara acak.</a:t>
            </a:r>
          </a:p>
        </p:txBody>
      </p:sp>
      <p:sp>
        <p:nvSpPr>
          <p:cNvPr id="5" name="TextBox 4"/>
          <p:cNvSpPr txBox="1"/>
          <p:nvPr/>
        </p:nvSpPr>
        <p:spPr>
          <a:xfrm>
            <a:off x="11094415" y="6355080"/>
            <a:ext cx="548640" cy="274320"/>
          </a:xfrm>
          <a:prstGeom prst="rect">
            <a:avLst/>
          </a:prstGeom>
          <a:noFill/>
        </p:spPr>
        <p:txBody>
          <a:bodyPr wrap="square" anchor="t" lIns="0" rIns="0" tIns="0" bIns="0">
            <a:spAutoFit/>
          </a:bodyPr>
          <a:lstStyle/>
          <a:p>
            <a:pPr algn="r">
              <a:lnSpc>
                <a:spcPct val="115000"/>
              </a:lnSpc>
            </a:pPr>
            <a:r>
              <a:rPr sz="1000" b="0">
                <a:solidFill>
                  <a:srgbClr val="94A3B8"/>
                </a:solidFill>
                <a:latin typeface="Segoe UI"/>
              </a:rPr>
              <a:t>13</a:t>
            </a:r>
          </a:p>
        </p:txBody>
      </p:sp>
      <p:pic>
        <p:nvPicPr>
          <p:cNvPr id="6" name="Picture 5" descr="anggaran.png"/>
          <p:cNvPicPr>
            <a:picLocks noChangeAspect="1"/>
          </p:cNvPicPr>
          <p:nvPr/>
        </p:nvPicPr>
        <p:blipFill>
          <a:blip r:embed="rId2"/>
          <a:stretch>
            <a:fillRect/>
          </a:stretch>
        </p:blipFill>
        <p:spPr>
          <a:xfrm>
            <a:off x="1187006" y="1828800"/>
            <a:ext cx="9817682" cy="4206240"/>
          </a:xfrm>
          <a:prstGeom prst="rect">
            <a:avLst/>
          </a:prstGeom>
        </p:spPr>
      </p:pic>
      <p:sp>
        <p:nvSpPr>
          <p:cNvPr id="7" name="TextBox 6"/>
          <p:cNvSpPr txBox="1"/>
          <p:nvPr/>
        </p:nvSpPr>
        <p:spPr>
          <a:xfrm>
            <a:off x="777240" y="6144768"/>
            <a:ext cx="10637215" cy="411480"/>
          </a:xfrm>
          <a:prstGeom prst="rect">
            <a:avLst/>
          </a:prstGeom>
          <a:noFill/>
        </p:spPr>
        <p:txBody>
          <a:bodyPr wrap="square" anchor="t" lIns="0" rIns="0" tIns="0" bIns="0">
            <a:spAutoFit/>
          </a:bodyPr>
          <a:lstStyle/>
          <a:p>
            <a:pPr algn="ctr">
              <a:lnSpc>
                <a:spcPct val="115000"/>
              </a:lnSpc>
            </a:pPr>
            <a:r>
              <a:rPr sz="1200" b="0">
                <a:solidFill>
                  <a:srgbClr val="475569"/>
                </a:solidFill>
                <a:latin typeface="Segoe UI"/>
              </a:rPr>
              <a:t>Model LightGBM + kalibrasi isotonik, 43 fitur. AUC 0,858 pada gelombang uji.</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E5A8F"/>
        </a:solidFill>
        <a:effectLst/>
      </p:bgPr>
    </p:bg>
    <p:spTree>
      <p:nvGrpSpPr>
        <p:cNvPr id="1" name=""/>
        <p:cNvGrpSpPr/>
        <p:nvPr/>
      </p:nvGrpSpPr>
      <p:grpSpPr/>
      <p:sp>
        <p:nvSpPr>
          <p:cNvPr id="2" name="TextBox 1"/>
          <p:cNvSpPr txBox="1"/>
          <p:nvPr/>
        </p:nvSpPr>
        <p:spPr>
          <a:xfrm>
            <a:off x="1280160" y="2103120"/>
            <a:ext cx="9601200" cy="2377440"/>
          </a:xfrm>
          <a:prstGeom prst="rect">
            <a:avLst/>
          </a:prstGeom>
          <a:noFill/>
        </p:spPr>
        <p:txBody>
          <a:bodyPr wrap="square" anchor="t" lIns="0" rIns="0" tIns="0" bIns="0">
            <a:spAutoFit/>
          </a:bodyPr>
          <a:lstStyle/>
          <a:p>
            <a:pPr algn="l">
              <a:lnSpc>
                <a:spcPct val="130000"/>
              </a:lnSpc>
            </a:pPr>
            <a:r>
              <a:rPr sz="3000" b="1">
                <a:solidFill>
                  <a:srgbClr val="FFFFFF"/>
                </a:solidFill>
                <a:latin typeface="Segoe UI Semibold"/>
              </a:rPr>
              <a:t>AUC sempat mencapai 0,94.</a:t>
            </a:r>
          </a:p>
          <a:p>
            <a:pPr algn="l">
              <a:lnSpc>
                <a:spcPct val="130000"/>
              </a:lnSpc>
            </a:pPr>
            <a:r>
              <a:rPr sz="3000" b="1">
                <a:solidFill>
                  <a:srgbClr val="FFFFFF"/>
                </a:solidFill>
                <a:latin typeface="Segoe UI Semibold"/>
              </a:rPr>
              <a:t>Itulah yang membuat saya curiga.</a:t>
            </a:r>
          </a:p>
        </p:txBody>
      </p:sp>
      <p:sp>
        <p:nvSpPr>
          <p:cNvPr id="3" name="TextBox 2"/>
          <p:cNvSpPr txBox="1"/>
          <p:nvPr/>
        </p:nvSpPr>
        <p:spPr>
          <a:xfrm>
            <a:off x="1280160" y="4937760"/>
            <a:ext cx="9601200" cy="457200"/>
          </a:xfrm>
          <a:prstGeom prst="rect">
            <a:avLst/>
          </a:prstGeom>
          <a:noFill/>
        </p:spPr>
        <p:txBody>
          <a:bodyPr wrap="square" anchor="t" lIns="0" rIns="0" tIns="0" bIns="0">
            <a:spAutoFit/>
          </a:bodyPr>
          <a:lstStyle/>
          <a:p>
            <a:pPr algn="l">
              <a:lnSpc>
                <a:spcPct val="115000"/>
              </a:lnSpc>
            </a:pPr>
            <a:r>
              <a:rPr sz="1400" b="0">
                <a:solidFill>
                  <a:srgbClr val="C7DAEE"/>
                </a:solidFill>
                <a:latin typeface="Segoe UI"/>
              </a:rPr>
              <a:t>Desil kesejahteraan ternyata dihitung dari pengeluaran sesungguhnya — keterangan yang tidak akan tersedia saat peramalan nyata. Setelah diperbaiki, angkanya turun menjadi 0,858.</a:t>
            </a:r>
          </a:p>
        </p:txBody>
      </p:sp>
      <p:sp>
        <p:nvSpPr>
          <p:cNvPr id="4" name="TextBox 3"/>
          <p:cNvSpPr txBox="1"/>
          <p:nvPr/>
        </p:nvSpPr>
        <p:spPr>
          <a:xfrm>
            <a:off x="11094415" y="6355080"/>
            <a:ext cx="548640" cy="274320"/>
          </a:xfrm>
          <a:prstGeom prst="rect">
            <a:avLst/>
          </a:prstGeom>
          <a:noFill/>
        </p:spPr>
        <p:txBody>
          <a:bodyPr wrap="square" anchor="t" lIns="0" rIns="0" tIns="0" bIns="0">
            <a:spAutoFit/>
          </a:bodyPr>
          <a:lstStyle/>
          <a:p>
            <a:pPr algn="r">
              <a:lnSpc>
                <a:spcPct val="115000"/>
              </a:lnSpc>
            </a:pPr>
            <a:r>
              <a:rPr sz="1000" b="0">
                <a:solidFill>
                  <a:srgbClr val="94A3B8"/>
                </a:solidFill>
                <a:latin typeface="Segoe U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1E5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07040" cy="640080"/>
          </a:xfrm>
          <a:prstGeom prst="rect">
            <a:avLst/>
          </a:prstGeom>
          <a:noFill/>
        </p:spPr>
        <p:txBody>
          <a:bodyPr wrap="square" anchor="t" lIns="0" rIns="0" tIns="0" bIns="0">
            <a:spAutoFit/>
          </a:bodyPr>
          <a:lstStyle/>
          <a:p>
            <a:pPr algn="l">
              <a:lnSpc>
                <a:spcPct val="115000"/>
              </a:lnSpc>
            </a:pPr>
            <a:r>
              <a:rPr sz="2800" b="1">
                <a:solidFill>
                  <a:srgbClr val="1E5A8F"/>
                </a:solidFill>
                <a:latin typeface="Segoe UI Semibold"/>
              </a:rPr>
              <a:t>Angka capaian tidak pernah saya tampilkan sendirian</a:t>
            </a:r>
          </a:p>
        </p:txBody>
      </p:sp>
      <p:sp>
        <p:nvSpPr>
          <p:cNvPr id="4" name="TextBox 3"/>
          <p:cNvSpPr txBox="1"/>
          <p:nvPr/>
        </p:nvSpPr>
        <p:spPr>
          <a:xfrm>
            <a:off x="777240" y="1207008"/>
            <a:ext cx="10607040" cy="457200"/>
          </a:xfrm>
          <a:prstGeom prst="rect">
            <a:avLst/>
          </a:prstGeom>
          <a:noFill/>
        </p:spPr>
        <p:txBody>
          <a:bodyPr wrap="square" anchor="t" lIns="0" rIns="0" tIns="0" bIns="0">
            <a:spAutoFit/>
          </a:bodyPr>
          <a:lstStyle/>
          <a:p>
            <a:pPr algn="l">
              <a:lnSpc>
                <a:spcPct val="115000"/>
              </a:lnSpc>
            </a:pPr>
            <a:r>
              <a:rPr sz="1400" b="0">
                <a:solidFill>
                  <a:srgbClr val="475569"/>
                </a:solidFill>
                <a:latin typeface="Segoe UI"/>
              </a:rPr>
              <a:t>Keluarga berskor tinggi cenderung membaik dengan sendirinya — regresi ke rata-rata. Tanpa pembanding, angka capaian menyesatkan.</a:t>
            </a:r>
          </a:p>
        </p:txBody>
      </p:sp>
      <p:sp>
        <p:nvSpPr>
          <p:cNvPr id="5" name="TextBox 4"/>
          <p:cNvSpPr txBox="1"/>
          <p:nvPr/>
        </p:nvSpPr>
        <p:spPr>
          <a:xfrm>
            <a:off x="11094415" y="6355080"/>
            <a:ext cx="548640" cy="274320"/>
          </a:xfrm>
          <a:prstGeom prst="rect">
            <a:avLst/>
          </a:prstGeom>
          <a:noFill/>
        </p:spPr>
        <p:txBody>
          <a:bodyPr wrap="square" anchor="t" lIns="0" rIns="0" tIns="0" bIns="0">
            <a:spAutoFit/>
          </a:bodyPr>
          <a:lstStyle/>
          <a:p>
            <a:pPr algn="r">
              <a:lnSpc>
                <a:spcPct val="115000"/>
              </a:lnSpc>
            </a:pPr>
            <a:r>
              <a:rPr sz="1000" b="0">
                <a:solidFill>
                  <a:srgbClr val="94A3B8"/>
                </a:solidFill>
                <a:latin typeface="Segoe UI"/>
              </a:rPr>
              <a:t>15</a:t>
            </a:r>
          </a:p>
        </p:txBody>
      </p:sp>
      <p:pic>
        <p:nvPicPr>
          <p:cNvPr id="6" name="Picture 5" descr="pembanding.png"/>
          <p:cNvPicPr>
            <a:picLocks noChangeAspect="1"/>
          </p:cNvPicPr>
          <p:nvPr/>
        </p:nvPicPr>
        <p:blipFill>
          <a:blip r:embed="rId2"/>
          <a:stretch>
            <a:fillRect/>
          </a:stretch>
        </p:blipFill>
        <p:spPr>
          <a:xfrm>
            <a:off x="1184664" y="1828800"/>
            <a:ext cx="9822367" cy="4206240"/>
          </a:xfrm>
          <a:prstGeom prst="rect">
            <a:avLst/>
          </a:prstGeom>
        </p:spPr>
      </p:pic>
      <p:sp>
        <p:nvSpPr>
          <p:cNvPr id="7" name="TextBox 6"/>
          <p:cNvSpPr txBox="1"/>
          <p:nvPr/>
        </p:nvSpPr>
        <p:spPr>
          <a:xfrm>
            <a:off x="777240" y="6144768"/>
            <a:ext cx="10637215" cy="411480"/>
          </a:xfrm>
          <a:prstGeom prst="rect">
            <a:avLst/>
          </a:prstGeom>
          <a:noFill/>
        </p:spPr>
        <p:txBody>
          <a:bodyPr wrap="square" anchor="t" lIns="0" rIns="0" tIns="0" bIns="0">
            <a:spAutoFit/>
          </a:bodyPr>
          <a:lstStyle/>
          <a:p>
            <a:pPr algn="ctr">
              <a:lnSpc>
                <a:spcPct val="115000"/>
              </a:lnSpc>
            </a:pPr>
            <a:r>
              <a:rPr sz="1200" b="0">
                <a:solidFill>
                  <a:srgbClr val="475569"/>
                </a:solidFill>
                <a:latin typeface="Segoe UI"/>
              </a:rPr>
              <a:t>467 dari 468 intervensi dicocokkan pada gelombang dan pita skor awal yang sama.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1E5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07040" cy="640080"/>
          </a:xfrm>
          <a:prstGeom prst="rect">
            <a:avLst/>
          </a:prstGeom>
          <a:noFill/>
        </p:spPr>
        <p:txBody>
          <a:bodyPr wrap="square" anchor="t" lIns="0" rIns="0" tIns="0" bIns="0">
            <a:spAutoFit/>
          </a:bodyPr>
          <a:lstStyle/>
          <a:p>
            <a:pPr algn="l">
              <a:lnSpc>
                <a:spcPct val="115000"/>
              </a:lnSpc>
            </a:pPr>
            <a:r>
              <a:rPr sz="2800" b="1">
                <a:solidFill>
                  <a:srgbClr val="1E5A8F"/>
                </a:solidFill>
                <a:latin typeface="Segoe UI Semibold"/>
              </a:rPr>
              <a:t>Siapa boleh melakukan apa</a:t>
            </a:r>
          </a:p>
        </p:txBody>
      </p:sp>
      <p:sp>
        <p:nvSpPr>
          <p:cNvPr id="4" name="TextBox 3"/>
          <p:cNvSpPr txBox="1"/>
          <p:nvPr/>
        </p:nvSpPr>
        <p:spPr>
          <a:xfrm>
            <a:off x="777240" y="1207008"/>
            <a:ext cx="10607040" cy="457200"/>
          </a:xfrm>
          <a:prstGeom prst="rect">
            <a:avLst/>
          </a:prstGeom>
          <a:noFill/>
        </p:spPr>
        <p:txBody>
          <a:bodyPr wrap="square" anchor="t" lIns="0" rIns="0" tIns="0" bIns="0">
            <a:spAutoFit/>
          </a:bodyPr>
          <a:lstStyle/>
          <a:p>
            <a:pPr algn="l">
              <a:lnSpc>
                <a:spcPct val="115000"/>
              </a:lnSpc>
            </a:pPr>
            <a:r>
              <a:rPr sz="1400" b="0">
                <a:solidFill>
                  <a:srgbClr val="475569"/>
                </a:solidFill>
                <a:latin typeface="Segoe UI"/>
              </a:rPr>
              <a:t>Yang menyalurkan tidak dapat menilai pekerjaannya sendiri — pemisahan itu ditegakkan sistem, bukan diminta baik-baik.</a:t>
            </a:r>
          </a:p>
        </p:txBody>
      </p:sp>
      <p:sp>
        <p:nvSpPr>
          <p:cNvPr id="5" name="TextBox 4"/>
          <p:cNvSpPr txBox="1"/>
          <p:nvPr/>
        </p:nvSpPr>
        <p:spPr>
          <a:xfrm>
            <a:off x="11094415" y="6355080"/>
            <a:ext cx="548640" cy="274320"/>
          </a:xfrm>
          <a:prstGeom prst="rect">
            <a:avLst/>
          </a:prstGeom>
          <a:noFill/>
        </p:spPr>
        <p:txBody>
          <a:bodyPr wrap="square" anchor="t" lIns="0" rIns="0" tIns="0" bIns="0">
            <a:spAutoFit/>
          </a:bodyPr>
          <a:lstStyle/>
          <a:p>
            <a:pPr algn="r">
              <a:lnSpc>
                <a:spcPct val="115000"/>
              </a:lnSpc>
            </a:pPr>
            <a:r>
              <a:rPr sz="1000" b="0">
                <a:solidFill>
                  <a:srgbClr val="94A3B8"/>
                </a:solidFill>
                <a:latin typeface="Segoe UI"/>
              </a:rPr>
              <a:t>16</a:t>
            </a:r>
          </a:p>
        </p:txBody>
      </p:sp>
      <p:graphicFrame>
        <p:nvGraphicFramePr>
          <p:cNvPr id="6" name="Table 5"/>
          <p:cNvGraphicFramePr>
            <a:graphicFrameLocks noGrp="1"/>
          </p:cNvGraphicFramePr>
          <p:nvPr/>
        </p:nvGraphicFramePr>
        <p:xfrm>
          <a:off x="777240" y="1828800"/>
          <a:ext cx="10637213" cy="2816352"/>
        </p:xfrm>
        <a:graphic>
          <a:graphicData uri="http://schemas.openxmlformats.org/drawingml/2006/table">
            <a:tbl>
              <a:tblPr firstRow="1" bandRow="1">
                <a:tableStyleId>{5C22544A-7EE6-4342-B048-85BDC9FD1C3A}</a:tableStyleId>
              </a:tblPr>
              <a:tblGrid>
                <a:gridCol w="2304729"/>
                <a:gridCol w="2304729"/>
                <a:gridCol w="6027755"/>
              </a:tblGrid>
              <a:tr h="402336">
                <a:tc>
                  <a:txBody>
                    <a:bodyPr/>
                    <a:lstStyle/>
                    <a:p>
                      <a:r>
                        <a:rPr sz="1200" b="1">
                          <a:solidFill>
                            <a:srgbClr val="FFFFFF"/>
                          </a:solidFill>
                          <a:latin typeface="Segoe UI Semibold"/>
                        </a:rPr>
                        <a:t>Peran</a:t>
                      </a:r>
                    </a:p>
                  </a:txBody>
                  <a:tcPr anchor="ctr">
                    <a:solidFill>
                      <a:srgbClr val="1E5A8F"/>
                    </a:solidFill>
                  </a:tcPr>
                </a:tc>
                <a:tc>
                  <a:txBody>
                    <a:bodyPr/>
                    <a:lstStyle/>
                    <a:p>
                      <a:r>
                        <a:rPr sz="1200" b="1">
                          <a:solidFill>
                            <a:srgbClr val="FFFFFF"/>
                          </a:solidFill>
                          <a:latin typeface="Segoe UI Semibold"/>
                        </a:rPr>
                        <a:t>Cakupan data</a:t>
                      </a:r>
                    </a:p>
                  </a:txBody>
                  <a:tcPr anchor="ctr">
                    <a:solidFill>
                      <a:srgbClr val="1E5A8F"/>
                    </a:solidFill>
                  </a:tcPr>
                </a:tc>
                <a:tc>
                  <a:txBody>
                    <a:bodyPr/>
                    <a:lstStyle/>
                    <a:p>
                      <a:r>
                        <a:rPr sz="1200" b="1">
                          <a:solidFill>
                            <a:srgbClr val="FFFFFF"/>
                          </a:solidFill>
                          <a:latin typeface="Segoe UI Semibold"/>
                        </a:rPr>
                        <a:t>Yang menjadi cirinya</a:t>
                      </a:r>
                    </a:p>
                  </a:txBody>
                  <a:tcPr anchor="ctr">
                    <a:solidFill>
                      <a:srgbClr val="1E5A8F"/>
                    </a:solidFill>
                  </a:tcPr>
                </a:tc>
              </a:tr>
              <a:tr h="402336">
                <a:tc>
                  <a:txBody>
                    <a:bodyPr wrap="square"/>
                    <a:lstStyle/>
                    <a:p>
                      <a:r>
                        <a:rPr sz="1200" b="0">
                          <a:solidFill>
                            <a:srgbClr val="0F172A"/>
                          </a:solidFill>
                          <a:latin typeface="Segoe UI"/>
                        </a:rPr>
                        <a:t>Pimpinan Daerah</a:t>
                      </a:r>
                    </a:p>
                  </a:txBody>
                  <a:tcPr anchor="ctr">
                    <a:solidFill>
                      <a:srgbClr val="FFFFFF"/>
                    </a:solidFill>
                  </a:tcPr>
                </a:tc>
                <a:tc>
                  <a:txBody>
                    <a:bodyPr wrap="square"/>
                    <a:lstStyle/>
                    <a:p>
                      <a:r>
                        <a:rPr sz="1200" b="1">
                          <a:solidFill>
                            <a:srgbClr val="0F172A"/>
                          </a:solidFill>
                          <a:latin typeface="Segoe UI Semibold"/>
                        </a:rPr>
                        <a:t>Agregat saja</a:t>
                      </a:r>
                    </a:p>
                  </a:txBody>
                  <a:tcPr anchor="ctr">
                    <a:solidFill>
                      <a:srgbClr val="FFFFFF"/>
                    </a:solidFill>
                  </a:tcPr>
                </a:tc>
                <a:tc>
                  <a:txBody>
                    <a:bodyPr wrap="square"/>
                    <a:lstStyle/>
                    <a:p>
                      <a:r>
                        <a:rPr sz="1200" b="0">
                          <a:solidFill>
                            <a:srgbClr val="0F172A"/>
                          </a:solidFill>
                          <a:latin typeface="Segoe UI"/>
                        </a:rPr>
                        <a:t>Tidak dapat membuka satu pun keluarga</a:t>
                      </a:r>
                    </a:p>
                  </a:txBody>
                  <a:tcPr anchor="ctr">
                    <a:solidFill>
                      <a:srgbClr val="FFFFFF"/>
                    </a:solidFill>
                  </a:tcPr>
                </a:tc>
              </a:tr>
              <a:tr h="402336">
                <a:tc>
                  <a:txBody>
                    <a:bodyPr wrap="square"/>
                    <a:lstStyle/>
                    <a:p>
                      <a:r>
                        <a:rPr sz="1200" b="0">
                          <a:solidFill>
                            <a:srgbClr val="0F172A"/>
                          </a:solidFill>
                          <a:latin typeface="Segoe UI"/>
                        </a:rPr>
                        <a:t>Perencana (Bappeda)</a:t>
                      </a:r>
                    </a:p>
                  </a:txBody>
                  <a:tcPr anchor="ctr">
                    <a:solidFill>
                      <a:srgbClr val="F1F5F9"/>
                    </a:solidFill>
                  </a:tcPr>
                </a:tc>
                <a:tc>
                  <a:txBody>
                    <a:bodyPr wrap="square"/>
                    <a:lstStyle/>
                    <a:p>
                      <a:r>
                        <a:rPr sz="1200" b="1">
                          <a:solidFill>
                            <a:srgbClr val="0F172A"/>
                          </a:solidFill>
                          <a:latin typeface="Segoe UI Semibold"/>
                        </a:rPr>
                        <a:t>Agregat saja</a:t>
                      </a:r>
                    </a:p>
                  </a:txBody>
                  <a:tcPr anchor="ctr">
                    <a:solidFill>
                      <a:srgbClr val="F1F5F9"/>
                    </a:solidFill>
                  </a:tcPr>
                </a:tc>
                <a:tc>
                  <a:txBody>
                    <a:bodyPr wrap="square"/>
                    <a:lstStyle/>
                    <a:p>
                      <a:r>
                        <a:rPr sz="1200" b="0">
                          <a:solidFill>
                            <a:srgbClr val="0F172A"/>
                          </a:solidFill>
                          <a:latin typeface="Segoe UI"/>
                        </a:rPr>
                        <a:t>Simulasi kebijakan dan katalog program</a:t>
                      </a:r>
                    </a:p>
                  </a:txBody>
                  <a:tcPr anchor="ctr">
                    <a:solidFill>
                      <a:srgbClr val="F1F5F9"/>
                    </a:solidFill>
                  </a:tcPr>
                </a:tc>
              </a:tr>
              <a:tr h="402336">
                <a:tc>
                  <a:txBody>
                    <a:bodyPr wrap="square"/>
                    <a:lstStyle/>
                    <a:p>
                      <a:r>
                        <a:rPr sz="1200" b="0">
                          <a:solidFill>
                            <a:srgbClr val="0F172A"/>
                          </a:solidFill>
                          <a:latin typeface="Segoe UI"/>
                        </a:rPr>
                        <a:t>Dinas Sosial</a:t>
                      </a:r>
                    </a:p>
                  </a:txBody>
                  <a:tcPr anchor="ctr">
                    <a:solidFill>
                      <a:srgbClr val="FFFFFF"/>
                    </a:solidFill>
                  </a:tcPr>
                </a:tc>
                <a:tc>
                  <a:txBody>
                    <a:bodyPr wrap="square"/>
                    <a:lstStyle/>
                    <a:p>
                      <a:r>
                        <a:rPr sz="1200" b="0">
                          <a:solidFill>
                            <a:srgbClr val="0F172A"/>
                          </a:solidFill>
                          <a:latin typeface="Segoe UI"/>
                        </a:rPr>
                        <a:t>Seluruh kabupaten</a:t>
                      </a:r>
                    </a:p>
                  </a:txBody>
                  <a:tcPr anchor="ctr">
                    <a:solidFill>
                      <a:srgbClr val="FFFFFF"/>
                    </a:solidFill>
                  </a:tcPr>
                </a:tc>
                <a:tc>
                  <a:txBody>
                    <a:bodyPr wrap="square"/>
                    <a:lstStyle/>
                    <a:p>
                      <a:r>
                        <a:rPr sz="1200" b="0">
                          <a:solidFill>
                            <a:srgbClr val="0F172A"/>
                          </a:solidFill>
                          <a:latin typeface="Segoe UI"/>
                        </a:rPr>
                        <a:t>Menugaskan kasus dan </a:t>
                      </a:r>
                      <a:r>
                        <a:rPr sz="1200" b="1">
                          <a:solidFill>
                            <a:srgbClr val="0F172A"/>
                          </a:solidFill>
                          <a:latin typeface="Segoe UI Semibold"/>
                        </a:rPr>
                        <a:t>menilai hasil</a:t>
                      </a:r>
                    </a:p>
                  </a:txBody>
                  <a:tcPr anchor="ctr">
                    <a:solidFill>
                      <a:srgbClr val="FFFFFF"/>
                    </a:solidFill>
                  </a:tcPr>
                </a:tc>
              </a:tr>
              <a:tr h="402336">
                <a:tc>
                  <a:txBody>
                    <a:bodyPr wrap="square"/>
                    <a:lstStyle/>
                    <a:p>
                      <a:r>
                        <a:rPr sz="1200" b="0">
                          <a:solidFill>
                            <a:srgbClr val="0F172A"/>
                          </a:solidFill>
                          <a:latin typeface="Segoe UI"/>
                        </a:rPr>
                        <a:t>OPD Pelaksana</a:t>
                      </a:r>
                    </a:p>
                  </a:txBody>
                  <a:tcPr anchor="ctr">
                    <a:solidFill>
                      <a:srgbClr val="F1F5F9"/>
                    </a:solidFill>
                  </a:tcPr>
                </a:tc>
                <a:tc>
                  <a:txBody>
                    <a:bodyPr wrap="square"/>
                    <a:lstStyle/>
                    <a:p>
                      <a:r>
                        <a:rPr sz="1200" b="0">
                          <a:solidFill>
                            <a:srgbClr val="0F172A"/>
                          </a:solidFill>
                          <a:latin typeface="Segoe UI"/>
                        </a:rPr>
                        <a:t>Wilayah tertugas</a:t>
                      </a:r>
                    </a:p>
                  </a:txBody>
                  <a:tcPr anchor="ctr">
                    <a:solidFill>
                      <a:srgbClr val="F1F5F9"/>
                    </a:solidFill>
                  </a:tcPr>
                </a:tc>
                <a:tc>
                  <a:txBody>
                    <a:bodyPr wrap="square"/>
                    <a:lstStyle/>
                    <a:p>
                      <a:r>
                        <a:rPr sz="1200" b="1">
                          <a:solidFill>
                            <a:srgbClr val="0F172A"/>
                          </a:solidFill>
                          <a:latin typeface="Segoe UI Semibold"/>
                        </a:rPr>
                        <a:t>Mencatat penyaluran</a:t>
                      </a:r>
                      <a:r>
                        <a:rPr sz="1200" b="0">
                          <a:solidFill>
                            <a:srgbClr val="0F172A"/>
                          </a:solidFill>
                          <a:latin typeface="Segoe UI"/>
                        </a:rPr>
                        <a:t>, tidak boleh menilainya</a:t>
                      </a:r>
                    </a:p>
                  </a:txBody>
                  <a:tcPr anchor="ctr">
                    <a:solidFill>
                      <a:srgbClr val="F1F5F9"/>
                    </a:solidFill>
                  </a:tcPr>
                </a:tc>
              </a:tr>
              <a:tr h="402336">
                <a:tc>
                  <a:txBody>
                    <a:bodyPr wrap="square"/>
                    <a:lstStyle/>
                    <a:p>
                      <a:r>
                        <a:rPr sz="1200" b="0">
                          <a:solidFill>
                            <a:srgbClr val="0F172A"/>
                          </a:solidFill>
                          <a:latin typeface="Segoe UI"/>
                        </a:rPr>
                        <a:t>Verifikator</a:t>
                      </a:r>
                    </a:p>
                  </a:txBody>
                  <a:tcPr anchor="ctr">
                    <a:solidFill>
                      <a:srgbClr val="FFFFFF"/>
                    </a:solidFill>
                  </a:tcPr>
                </a:tc>
                <a:tc>
                  <a:txBody>
                    <a:bodyPr wrap="square"/>
                    <a:lstStyle/>
                    <a:p>
                      <a:r>
                        <a:rPr sz="1200" b="0">
                          <a:solidFill>
                            <a:srgbClr val="0F172A"/>
                          </a:solidFill>
                          <a:latin typeface="Segoe UI"/>
                        </a:rPr>
                        <a:t>Wilayah tertugas</a:t>
                      </a:r>
                    </a:p>
                  </a:txBody>
                  <a:tcPr anchor="ctr">
                    <a:solidFill>
                      <a:srgbClr val="FFFFFF"/>
                    </a:solidFill>
                  </a:tcPr>
                </a:tc>
                <a:tc>
                  <a:txBody>
                    <a:bodyPr wrap="square"/>
                    <a:lstStyle/>
                    <a:p>
                      <a:r>
                        <a:rPr sz="1200" b="0">
                          <a:solidFill>
                            <a:srgbClr val="0F172A"/>
                          </a:solidFill>
                          <a:latin typeface="Segoe UI"/>
                        </a:rPr>
                        <a:t>Mencatat temuan lapangan</a:t>
                      </a:r>
                    </a:p>
                  </a:txBody>
                  <a:tcPr anchor="ctr">
                    <a:solidFill>
                      <a:srgbClr val="FFFFFF"/>
                    </a:solidFill>
                  </a:tcPr>
                </a:tc>
              </a:tr>
              <a:tr h="402336">
                <a:tc>
                  <a:txBody>
                    <a:bodyPr wrap="square"/>
                    <a:lstStyle/>
                    <a:p>
                      <a:r>
                        <a:rPr sz="1200" b="0">
                          <a:solidFill>
                            <a:srgbClr val="0F172A"/>
                          </a:solidFill>
                          <a:latin typeface="Segoe UI"/>
                        </a:rPr>
                        <a:t>Administrator</a:t>
                      </a:r>
                    </a:p>
                  </a:txBody>
                  <a:tcPr anchor="ctr">
                    <a:solidFill>
                      <a:srgbClr val="F1F5F9"/>
                    </a:solidFill>
                  </a:tcPr>
                </a:tc>
                <a:tc>
                  <a:txBody>
                    <a:bodyPr wrap="square"/>
                    <a:lstStyle/>
                    <a:p>
                      <a:r>
                        <a:rPr sz="1200" b="0">
                          <a:solidFill>
                            <a:srgbClr val="0F172A"/>
                          </a:solidFill>
                          <a:latin typeface="Segoe UI"/>
                        </a:rPr>
                        <a:t>Seluruh kabupaten</a:t>
                      </a:r>
                    </a:p>
                  </a:txBody>
                  <a:tcPr anchor="ctr">
                    <a:solidFill>
                      <a:srgbClr val="F1F5F9"/>
                    </a:solidFill>
                  </a:tcPr>
                </a:tc>
                <a:tc>
                  <a:txBody>
                    <a:bodyPr wrap="square"/>
                    <a:lstStyle/>
                    <a:p>
                      <a:r>
                        <a:rPr sz="1200" b="0">
                          <a:solidFill>
                            <a:srgbClr val="0F172A"/>
                          </a:solidFill>
                          <a:latin typeface="Segoe UI"/>
                        </a:rPr>
                        <a:t>Mengatur layanan AI</a:t>
                      </a:r>
                    </a:p>
                  </a:txBody>
                  <a:tcPr anchor="ctr">
                    <a:solidFill>
                      <a:srgbClr val="F1F5F9"/>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1E5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07040" cy="640080"/>
          </a:xfrm>
          <a:prstGeom prst="rect">
            <a:avLst/>
          </a:prstGeom>
          <a:noFill/>
        </p:spPr>
        <p:txBody>
          <a:bodyPr wrap="square" anchor="t" lIns="0" rIns="0" tIns="0" bIns="0">
            <a:spAutoFit/>
          </a:bodyPr>
          <a:lstStyle/>
          <a:p>
            <a:pPr algn="l">
              <a:lnSpc>
                <a:spcPct val="115000"/>
              </a:lnSpc>
            </a:pPr>
            <a:r>
              <a:rPr sz="2800" b="1">
                <a:solidFill>
                  <a:srgbClr val="1E5A8F"/>
                </a:solidFill>
                <a:latin typeface="Segoe UI Semibold"/>
              </a:rPr>
              <a:t>Janji privasi yang ditegakkan mesin</a:t>
            </a:r>
          </a:p>
        </p:txBody>
      </p:sp>
      <p:sp>
        <p:nvSpPr>
          <p:cNvPr id="4" name="TextBox 3"/>
          <p:cNvSpPr txBox="1"/>
          <p:nvPr/>
        </p:nvSpPr>
        <p:spPr>
          <a:xfrm>
            <a:off x="777240" y="1207008"/>
            <a:ext cx="10607040" cy="457200"/>
          </a:xfrm>
          <a:prstGeom prst="rect">
            <a:avLst/>
          </a:prstGeom>
          <a:noFill/>
        </p:spPr>
        <p:txBody>
          <a:bodyPr wrap="square" anchor="t" lIns="0" rIns="0" tIns="0" bIns="0">
            <a:spAutoFit/>
          </a:bodyPr>
          <a:lstStyle/>
          <a:p>
            <a:pPr algn="l">
              <a:lnSpc>
                <a:spcPct val="115000"/>
              </a:lnSpc>
            </a:pPr>
            <a:r>
              <a:rPr sz="1400" b="0">
                <a:solidFill>
                  <a:srgbClr val="475569"/>
                </a:solidFill>
                <a:latin typeface="Segoe UI"/>
              </a:rPr>
              <a:t>Berkas pertama yang saya tulis bukan halaman muka, melainkan penghalang ini.</a:t>
            </a:r>
          </a:p>
        </p:txBody>
      </p:sp>
      <p:sp>
        <p:nvSpPr>
          <p:cNvPr id="5" name="TextBox 4"/>
          <p:cNvSpPr txBox="1"/>
          <p:nvPr/>
        </p:nvSpPr>
        <p:spPr>
          <a:xfrm>
            <a:off x="11094415" y="6355080"/>
            <a:ext cx="548640" cy="274320"/>
          </a:xfrm>
          <a:prstGeom prst="rect">
            <a:avLst/>
          </a:prstGeom>
          <a:noFill/>
        </p:spPr>
        <p:txBody>
          <a:bodyPr wrap="square" anchor="t" lIns="0" rIns="0" tIns="0" bIns="0">
            <a:spAutoFit/>
          </a:bodyPr>
          <a:lstStyle/>
          <a:p>
            <a:pPr algn="r">
              <a:lnSpc>
                <a:spcPct val="115000"/>
              </a:lnSpc>
            </a:pPr>
            <a:r>
              <a:rPr sz="1000" b="0">
                <a:solidFill>
                  <a:srgbClr val="94A3B8"/>
                </a:solidFill>
                <a:latin typeface="Segoe UI"/>
              </a:rPr>
              <a:t>17</a:t>
            </a:r>
          </a:p>
        </p:txBody>
      </p:sp>
      <p:sp>
        <p:nvSpPr>
          <p:cNvPr id="6" name="Oval 5"/>
          <p:cNvSpPr/>
          <p:nvPr/>
        </p:nvSpPr>
        <p:spPr>
          <a:xfrm>
            <a:off x="777240" y="1947672"/>
            <a:ext cx="118872" cy="118872"/>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24712" y="1828800"/>
            <a:ext cx="10271455" cy="548640"/>
          </a:xfrm>
          <a:prstGeom prst="rect">
            <a:avLst/>
          </a:prstGeom>
          <a:noFill/>
        </p:spPr>
        <p:txBody>
          <a:bodyPr wrap="square" anchor="t" lIns="0" rIns="0" tIns="0" bIns="0">
            <a:spAutoFit/>
          </a:bodyPr>
          <a:lstStyle/>
          <a:p>
            <a:pPr algn="l">
              <a:lnSpc>
                <a:spcPct val="125000"/>
              </a:lnSpc>
            </a:pPr>
            <a:r>
              <a:rPr sz="1700" b="1">
                <a:solidFill>
                  <a:srgbClr val="0F172A"/>
                </a:solidFill>
                <a:latin typeface="Segoe UI Semibold"/>
              </a:rPr>
              <a:t>Tidak ada nama, NIK, atau alamat</a:t>
            </a:r>
            <a:r>
              <a:rPr sz="1700" b="0">
                <a:solidFill>
                  <a:srgbClr val="0F172A"/>
                </a:solidFill>
                <a:latin typeface="Segoe UI"/>
              </a:rPr>
              <a:t> di dalam sistem. Identitas keluarga berupa kode semu satu arah.</a:t>
            </a:r>
          </a:p>
        </p:txBody>
      </p:sp>
      <p:sp>
        <p:nvSpPr>
          <p:cNvPr id="8" name="Oval 7"/>
          <p:cNvSpPr/>
          <p:nvPr/>
        </p:nvSpPr>
        <p:spPr>
          <a:xfrm>
            <a:off x="777240" y="2871470"/>
            <a:ext cx="118872" cy="118872"/>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24712" y="2752598"/>
            <a:ext cx="10271455" cy="548640"/>
          </a:xfrm>
          <a:prstGeom prst="rect">
            <a:avLst/>
          </a:prstGeom>
          <a:noFill/>
        </p:spPr>
        <p:txBody>
          <a:bodyPr wrap="square" anchor="t" lIns="0" rIns="0" tIns="0" bIns="0">
            <a:spAutoFit/>
          </a:bodyPr>
          <a:lstStyle/>
          <a:p>
            <a:pPr algn="l">
              <a:lnSpc>
                <a:spcPct val="125000"/>
              </a:lnSpc>
            </a:pPr>
            <a:r>
              <a:rPr sz="1700" b="1">
                <a:solidFill>
                  <a:srgbClr val="0F172A"/>
                </a:solidFill>
                <a:latin typeface="Segoe UI Semibold"/>
              </a:rPr>
              <a:t>Penghalang data pribadi</a:t>
            </a:r>
            <a:r>
              <a:rPr sz="1700" b="0">
                <a:solidFill>
                  <a:srgbClr val="0F172A"/>
                </a:solidFill>
                <a:latin typeface="Segoe UI"/>
              </a:rPr>
              <a:t> memeriksa setiap muatan tepat sebelum dikirim ke layanan AI. Bila memuat pengenal pribadi, permintaan dibatalkan — bukan disamarkan diam-diam.</a:t>
            </a:r>
          </a:p>
        </p:txBody>
      </p:sp>
      <p:sp>
        <p:nvSpPr>
          <p:cNvPr id="10" name="Oval 9"/>
          <p:cNvSpPr/>
          <p:nvPr/>
        </p:nvSpPr>
        <p:spPr>
          <a:xfrm>
            <a:off x="777240" y="3795268"/>
            <a:ext cx="118872" cy="118872"/>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24712" y="3676396"/>
            <a:ext cx="10271455" cy="548640"/>
          </a:xfrm>
          <a:prstGeom prst="rect">
            <a:avLst/>
          </a:prstGeom>
          <a:noFill/>
        </p:spPr>
        <p:txBody>
          <a:bodyPr wrap="square" anchor="t" lIns="0" rIns="0" tIns="0" bIns="0">
            <a:spAutoFit/>
          </a:bodyPr>
          <a:lstStyle/>
          <a:p>
            <a:pPr algn="l">
              <a:lnSpc>
                <a:spcPct val="125000"/>
              </a:lnSpc>
            </a:pPr>
            <a:r>
              <a:rPr sz="1700" b="1">
                <a:solidFill>
                  <a:srgbClr val="0F172A"/>
                </a:solidFill>
                <a:latin typeface="Segoe UI Semibold"/>
              </a:rPr>
              <a:t>Agregat wilayah di bawah sepuluh keluarga tidak ditampilkan</a:t>
            </a:r>
            <a:r>
              <a:rPr sz="1700" b="0">
                <a:solidFill>
                  <a:srgbClr val="0F172A"/>
                </a:solidFill>
                <a:latin typeface="Segoe UI"/>
              </a:rPr>
              <a:t>, agar individu tidak dapat disimpulkan dari angka gabungan.</a:t>
            </a:r>
          </a:p>
        </p:txBody>
      </p:sp>
      <p:sp>
        <p:nvSpPr>
          <p:cNvPr id="12" name="Oval 11"/>
          <p:cNvSpPr/>
          <p:nvPr/>
        </p:nvSpPr>
        <p:spPr>
          <a:xfrm>
            <a:off x="777240" y="4719066"/>
            <a:ext cx="118872" cy="118872"/>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24712" y="4600194"/>
            <a:ext cx="10271455" cy="548640"/>
          </a:xfrm>
          <a:prstGeom prst="rect">
            <a:avLst/>
          </a:prstGeom>
          <a:noFill/>
        </p:spPr>
        <p:txBody>
          <a:bodyPr wrap="square" anchor="t" lIns="0" rIns="0" tIns="0" bIns="0">
            <a:spAutoFit/>
          </a:bodyPr>
          <a:lstStyle/>
          <a:p>
            <a:pPr algn="l">
              <a:lnSpc>
                <a:spcPct val="125000"/>
              </a:lnSpc>
            </a:pPr>
            <a:r>
              <a:rPr sz="1700" b="1">
                <a:solidFill>
                  <a:srgbClr val="0F172A"/>
                </a:solidFill>
                <a:latin typeface="Segoe UI Semibold"/>
              </a:rPr>
              <a:t>Model lokal dapat dipakai</a:t>
            </a:r>
            <a:r>
              <a:rPr sz="1700" b="0">
                <a:solidFill>
                  <a:srgbClr val="0F172A"/>
                </a:solidFill>
                <a:latin typeface="Segoe UI"/>
              </a:rPr>
              <a:t> — bila dipilih, tidak ada satu kata pun yang keluar dari jaringan pemerintah daerah.</a:t>
            </a:r>
          </a:p>
        </p:txBody>
      </p:sp>
      <p:sp>
        <p:nvSpPr>
          <p:cNvPr id="14" name="Oval 13"/>
          <p:cNvSpPr/>
          <p:nvPr/>
        </p:nvSpPr>
        <p:spPr>
          <a:xfrm>
            <a:off x="777240" y="5642864"/>
            <a:ext cx="118872" cy="118872"/>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24712" y="5523992"/>
            <a:ext cx="10271455" cy="548640"/>
          </a:xfrm>
          <a:prstGeom prst="rect">
            <a:avLst/>
          </a:prstGeom>
          <a:noFill/>
        </p:spPr>
        <p:txBody>
          <a:bodyPr wrap="square" anchor="t" lIns="0" rIns="0" tIns="0" bIns="0">
            <a:spAutoFit/>
          </a:bodyPr>
          <a:lstStyle/>
          <a:p>
            <a:pPr algn="l">
              <a:lnSpc>
                <a:spcPct val="125000"/>
              </a:lnSpc>
            </a:pPr>
            <a:r>
              <a:rPr sz="1700" b="1">
                <a:solidFill>
                  <a:srgbClr val="0F172A"/>
                </a:solidFill>
                <a:latin typeface="Segoe UI Semibold"/>
              </a:rPr>
              <a:t>Setiap tindakan tercatat</a:t>
            </a:r>
            <a:r>
              <a:rPr sz="1700" b="0">
                <a:solidFill>
                  <a:srgbClr val="0F172A"/>
                </a:solidFill>
                <a:latin typeface="Segoe UI"/>
              </a:rPr>
              <a:t> pada jejak audit: siapa, kapan, dari mana.</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E5A8F"/>
        </a:solidFill>
        <a:effectLst/>
      </p:bgPr>
    </p:bg>
    <p:spTree>
      <p:nvGrpSpPr>
        <p:cNvPr id="1" name=""/>
        <p:cNvGrpSpPr/>
        <p:nvPr/>
      </p:nvGrpSpPr>
      <p:grpSpPr/>
      <p:sp>
        <p:nvSpPr>
          <p:cNvPr id="2" name="TextBox 1"/>
          <p:cNvSpPr txBox="1"/>
          <p:nvPr/>
        </p:nvSpPr>
        <p:spPr>
          <a:xfrm>
            <a:off x="777240" y="2377440"/>
            <a:ext cx="1371600" cy="822960"/>
          </a:xfrm>
          <a:prstGeom prst="rect">
            <a:avLst/>
          </a:prstGeom>
          <a:noFill/>
        </p:spPr>
        <p:txBody>
          <a:bodyPr wrap="square" anchor="t" lIns="0" rIns="0" tIns="0" bIns="0">
            <a:spAutoFit/>
          </a:bodyPr>
          <a:lstStyle/>
          <a:p>
            <a:pPr algn="l">
              <a:lnSpc>
                <a:spcPct val="115000"/>
              </a:lnSpc>
            </a:pPr>
            <a:r>
              <a:rPr sz="5400" b="1">
                <a:solidFill>
                  <a:srgbClr val="7FA8CC"/>
                </a:solidFill>
                <a:latin typeface="Segoe UI Semibold"/>
              </a:rPr>
              <a:t>04</a:t>
            </a:r>
          </a:p>
        </p:txBody>
      </p:sp>
      <p:sp>
        <p:nvSpPr>
          <p:cNvPr id="3" name="TextBox 2"/>
          <p:cNvSpPr txBox="1"/>
          <p:nvPr/>
        </p:nvSpPr>
        <p:spPr>
          <a:xfrm>
            <a:off x="777240" y="3200400"/>
            <a:ext cx="10515600" cy="1097280"/>
          </a:xfrm>
          <a:prstGeom prst="rect">
            <a:avLst/>
          </a:prstGeom>
          <a:noFill/>
        </p:spPr>
        <p:txBody>
          <a:bodyPr wrap="square" anchor="t" lIns="0" rIns="0" tIns="0" bIns="0">
            <a:spAutoFit/>
          </a:bodyPr>
          <a:lstStyle/>
          <a:p>
            <a:pPr algn="l">
              <a:lnSpc>
                <a:spcPct val="115000"/>
              </a:lnSpc>
            </a:pPr>
            <a:r>
              <a:rPr sz="4000" b="1">
                <a:solidFill>
                  <a:srgbClr val="FFFFFF"/>
                </a:solidFill>
                <a:latin typeface="Segoe UI Semibold"/>
              </a:rPr>
              <a:t>Sejauh mana saya sampai</a:t>
            </a:r>
          </a:p>
        </p:txBody>
      </p:sp>
      <p:sp>
        <p:nvSpPr>
          <p:cNvPr id="4" name="TextBox 3"/>
          <p:cNvSpPr txBox="1"/>
          <p:nvPr/>
        </p:nvSpPr>
        <p:spPr>
          <a:xfrm>
            <a:off x="777240" y="4343400"/>
            <a:ext cx="9601200" cy="731520"/>
          </a:xfrm>
          <a:prstGeom prst="rect">
            <a:avLst/>
          </a:prstGeom>
          <a:noFill/>
        </p:spPr>
        <p:txBody>
          <a:bodyPr wrap="square" anchor="t" lIns="0" rIns="0" tIns="0" bIns="0">
            <a:spAutoFit/>
          </a:bodyPr>
          <a:lstStyle/>
          <a:p>
            <a:pPr algn="l">
              <a:lnSpc>
                <a:spcPct val="115000"/>
              </a:lnSpc>
            </a:pPr>
            <a:r>
              <a:rPr sz="1700" b="0">
                <a:solidFill>
                  <a:srgbClr val="C7DAEE"/>
                </a:solidFill>
                <a:latin typeface="Segoe UI"/>
              </a:rPr>
              <a:t>Termasuk apa yang belum bisa saya buktikan.</a:t>
            </a:r>
          </a:p>
        </p:txBody>
      </p:sp>
      <p:sp>
        <p:nvSpPr>
          <p:cNvPr id="5" name="TextBox 4"/>
          <p:cNvSpPr txBox="1"/>
          <p:nvPr/>
        </p:nvSpPr>
        <p:spPr>
          <a:xfrm>
            <a:off x="11094415" y="6355080"/>
            <a:ext cx="548640" cy="274320"/>
          </a:xfrm>
          <a:prstGeom prst="rect">
            <a:avLst/>
          </a:prstGeom>
          <a:noFill/>
        </p:spPr>
        <p:txBody>
          <a:bodyPr wrap="square" anchor="t" lIns="0" rIns="0" tIns="0" bIns="0">
            <a:spAutoFit/>
          </a:bodyPr>
          <a:lstStyle/>
          <a:p>
            <a:pPr algn="r">
              <a:lnSpc>
                <a:spcPct val="115000"/>
              </a:lnSpc>
            </a:pPr>
            <a:r>
              <a:rPr sz="1000" b="0">
                <a:solidFill>
                  <a:srgbClr val="94A3B8"/>
                </a:solidFill>
                <a:latin typeface="Segoe U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1E5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07040" cy="640080"/>
          </a:xfrm>
          <a:prstGeom prst="rect">
            <a:avLst/>
          </a:prstGeom>
          <a:noFill/>
        </p:spPr>
        <p:txBody>
          <a:bodyPr wrap="square" anchor="t" lIns="0" rIns="0" tIns="0" bIns="0">
            <a:spAutoFit/>
          </a:bodyPr>
          <a:lstStyle/>
          <a:p>
            <a:pPr algn="l">
              <a:lnSpc>
                <a:spcPct val="115000"/>
              </a:lnSpc>
            </a:pPr>
            <a:r>
              <a:rPr sz="2800" b="1">
                <a:solidFill>
                  <a:srgbClr val="1E5A8F"/>
                </a:solidFill>
                <a:latin typeface="Segoe UI Semibold"/>
              </a:rPr>
              <a:t>Yang sudah dikerjakan</a:t>
            </a:r>
          </a:p>
        </p:txBody>
      </p:sp>
      <p:sp>
        <p:nvSpPr>
          <p:cNvPr id="4" name="TextBox 3"/>
          <p:cNvSpPr txBox="1"/>
          <p:nvPr/>
        </p:nvSpPr>
        <p:spPr>
          <a:xfrm>
            <a:off x="11094415" y="6355080"/>
            <a:ext cx="548640" cy="274320"/>
          </a:xfrm>
          <a:prstGeom prst="rect">
            <a:avLst/>
          </a:prstGeom>
          <a:noFill/>
        </p:spPr>
        <p:txBody>
          <a:bodyPr wrap="square" anchor="t" lIns="0" rIns="0" tIns="0" bIns="0">
            <a:spAutoFit/>
          </a:bodyPr>
          <a:lstStyle/>
          <a:p>
            <a:pPr algn="r">
              <a:lnSpc>
                <a:spcPct val="115000"/>
              </a:lnSpc>
            </a:pPr>
            <a:r>
              <a:rPr sz="1000" b="0">
                <a:solidFill>
                  <a:srgbClr val="94A3B8"/>
                </a:solidFill>
                <a:latin typeface="Segoe UI"/>
              </a:rPr>
              <a:t>19</a:t>
            </a:r>
          </a:p>
        </p:txBody>
      </p:sp>
      <p:sp>
        <p:nvSpPr>
          <p:cNvPr id="5" name="Rounded Rectangle 4"/>
          <p:cNvSpPr/>
          <p:nvPr/>
        </p:nvSpPr>
        <p:spPr>
          <a:xfrm>
            <a:off x="777240" y="1298448"/>
            <a:ext cx="3301898" cy="274320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1682496"/>
            <a:ext cx="2753258" cy="1005840"/>
          </a:xfrm>
          <a:prstGeom prst="rect">
            <a:avLst/>
          </a:prstGeom>
          <a:noFill/>
        </p:spPr>
        <p:txBody>
          <a:bodyPr wrap="square" anchor="t" lIns="0" rIns="0" tIns="0" bIns="0">
            <a:spAutoFit/>
          </a:bodyPr>
          <a:lstStyle/>
          <a:p>
            <a:pPr algn="l">
              <a:lnSpc>
                <a:spcPct val="115000"/>
              </a:lnSpc>
            </a:pPr>
            <a:r>
              <a:rPr sz="4600" b="1">
                <a:solidFill>
                  <a:srgbClr val="1E5A8F"/>
                </a:solidFill>
                <a:latin typeface="Segoe UI Semibold"/>
              </a:rPr>
              <a:t>28.938</a:t>
            </a:r>
          </a:p>
        </p:txBody>
      </p:sp>
      <p:sp>
        <p:nvSpPr>
          <p:cNvPr id="7" name="TextBox 6"/>
          <p:cNvSpPr txBox="1"/>
          <p:nvPr/>
        </p:nvSpPr>
        <p:spPr>
          <a:xfrm>
            <a:off x="1051560" y="2670048"/>
            <a:ext cx="2753258" cy="365760"/>
          </a:xfrm>
          <a:prstGeom prst="rect">
            <a:avLst/>
          </a:prstGeom>
          <a:noFill/>
        </p:spPr>
        <p:txBody>
          <a:bodyPr wrap="square" anchor="t" lIns="0" rIns="0" tIns="0" bIns="0">
            <a:spAutoFit/>
          </a:bodyPr>
          <a:lstStyle/>
          <a:p>
            <a:pPr algn="l">
              <a:lnSpc>
                <a:spcPct val="115000"/>
              </a:lnSpc>
            </a:pPr>
            <a:r>
              <a:rPr sz="1400" b="1">
                <a:solidFill>
                  <a:srgbClr val="0F172A"/>
                </a:solidFill>
                <a:latin typeface="Segoe UI Semibold"/>
              </a:rPr>
              <a:t>baris kode</a:t>
            </a:r>
          </a:p>
        </p:txBody>
      </p:sp>
      <p:sp>
        <p:nvSpPr>
          <p:cNvPr id="8" name="TextBox 7"/>
          <p:cNvSpPr txBox="1"/>
          <p:nvPr/>
        </p:nvSpPr>
        <p:spPr>
          <a:xfrm>
            <a:off x="1051560" y="3081528"/>
            <a:ext cx="2753258" cy="822960"/>
          </a:xfrm>
          <a:prstGeom prst="rect">
            <a:avLst/>
          </a:prstGeom>
          <a:noFill/>
        </p:spPr>
        <p:txBody>
          <a:bodyPr wrap="square" anchor="t" lIns="0" rIns="0" tIns="0" bIns="0">
            <a:spAutoFit/>
          </a:bodyPr>
          <a:lstStyle/>
          <a:p>
            <a:pPr algn="l">
              <a:lnSpc>
                <a:spcPct val="125000"/>
              </a:lnSpc>
            </a:pPr>
            <a:r>
              <a:rPr sz="1100" b="0">
                <a:solidFill>
                  <a:srgbClr val="475569"/>
                </a:solidFill>
                <a:latin typeface="Segoe UI"/>
              </a:rPr>
              <a:t>Python untuk peladen dan model, TypeScript untuk antarmuka.</a:t>
            </a:r>
          </a:p>
        </p:txBody>
      </p:sp>
      <p:sp>
        <p:nvSpPr>
          <p:cNvPr id="9" name="Rounded Rectangle 8"/>
          <p:cNvSpPr/>
          <p:nvPr/>
        </p:nvSpPr>
        <p:spPr>
          <a:xfrm>
            <a:off x="4444898" y="1298448"/>
            <a:ext cx="3301898" cy="274320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19218" y="1682496"/>
            <a:ext cx="2753258" cy="1005840"/>
          </a:xfrm>
          <a:prstGeom prst="rect">
            <a:avLst/>
          </a:prstGeom>
          <a:noFill/>
        </p:spPr>
        <p:txBody>
          <a:bodyPr wrap="square" anchor="t" lIns="0" rIns="0" tIns="0" bIns="0">
            <a:spAutoFit/>
          </a:bodyPr>
          <a:lstStyle/>
          <a:p>
            <a:pPr algn="l">
              <a:lnSpc>
                <a:spcPct val="115000"/>
              </a:lnSpc>
            </a:pPr>
            <a:r>
              <a:rPr sz="4600" b="1">
                <a:solidFill>
                  <a:srgbClr val="1E5A8F"/>
                </a:solidFill>
                <a:latin typeface="Segoe UI Semibold"/>
              </a:rPr>
              <a:t>75.938</a:t>
            </a:r>
          </a:p>
        </p:txBody>
      </p:sp>
      <p:sp>
        <p:nvSpPr>
          <p:cNvPr id="11" name="TextBox 10"/>
          <p:cNvSpPr txBox="1"/>
          <p:nvPr/>
        </p:nvSpPr>
        <p:spPr>
          <a:xfrm>
            <a:off x="4719218" y="2670048"/>
            <a:ext cx="2753258" cy="365760"/>
          </a:xfrm>
          <a:prstGeom prst="rect">
            <a:avLst/>
          </a:prstGeom>
          <a:noFill/>
        </p:spPr>
        <p:txBody>
          <a:bodyPr wrap="square" anchor="t" lIns="0" rIns="0" tIns="0" bIns="0">
            <a:spAutoFit/>
          </a:bodyPr>
          <a:lstStyle/>
          <a:p>
            <a:pPr algn="l">
              <a:lnSpc>
                <a:spcPct val="115000"/>
              </a:lnSpc>
            </a:pPr>
            <a:r>
              <a:rPr sz="1400" b="1">
                <a:solidFill>
                  <a:srgbClr val="0F172A"/>
                </a:solidFill>
                <a:latin typeface="Segoe UI Semibold"/>
              </a:rPr>
              <a:t>kata riset domain</a:t>
            </a:r>
          </a:p>
        </p:txBody>
      </p:sp>
      <p:sp>
        <p:nvSpPr>
          <p:cNvPr id="12" name="TextBox 11"/>
          <p:cNvSpPr txBox="1"/>
          <p:nvPr/>
        </p:nvSpPr>
        <p:spPr>
          <a:xfrm>
            <a:off x="4719218" y="3081528"/>
            <a:ext cx="2753258" cy="822960"/>
          </a:xfrm>
          <a:prstGeom prst="rect">
            <a:avLst/>
          </a:prstGeom>
          <a:noFill/>
        </p:spPr>
        <p:txBody>
          <a:bodyPr wrap="square" anchor="t" lIns="0" rIns="0" tIns="0" bIns="0">
            <a:spAutoFit/>
          </a:bodyPr>
          <a:lstStyle/>
          <a:p>
            <a:pPr algn="l">
              <a:lnSpc>
                <a:spcPct val="125000"/>
              </a:lnSpc>
            </a:pPr>
            <a:r>
              <a:rPr sz="1100" b="0">
                <a:solidFill>
                  <a:srgbClr val="475569"/>
                </a:solidFill>
                <a:latin typeface="Segoe UI"/>
              </a:rPr>
              <a:t>Enam dokumen, disusun sebelum satu baris kode ditulis.</a:t>
            </a:r>
          </a:p>
        </p:txBody>
      </p:sp>
      <p:sp>
        <p:nvSpPr>
          <p:cNvPr id="13" name="Rounded Rectangle 12"/>
          <p:cNvSpPr/>
          <p:nvPr/>
        </p:nvSpPr>
        <p:spPr>
          <a:xfrm>
            <a:off x="8112556" y="1298448"/>
            <a:ext cx="3301898" cy="274320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86876" y="1682496"/>
            <a:ext cx="2753258" cy="1005840"/>
          </a:xfrm>
          <a:prstGeom prst="rect">
            <a:avLst/>
          </a:prstGeom>
          <a:noFill/>
        </p:spPr>
        <p:txBody>
          <a:bodyPr wrap="square" anchor="t" lIns="0" rIns="0" tIns="0" bIns="0">
            <a:spAutoFit/>
          </a:bodyPr>
          <a:lstStyle/>
          <a:p>
            <a:pPr algn="l">
              <a:lnSpc>
                <a:spcPct val="115000"/>
              </a:lnSpc>
            </a:pPr>
            <a:r>
              <a:rPr sz="4600" b="1">
                <a:solidFill>
                  <a:srgbClr val="1E5A8F"/>
                </a:solidFill>
                <a:latin typeface="Segoe UI Semibold"/>
              </a:rPr>
              <a:t>240.000</a:t>
            </a:r>
          </a:p>
        </p:txBody>
      </p:sp>
      <p:sp>
        <p:nvSpPr>
          <p:cNvPr id="15" name="TextBox 14"/>
          <p:cNvSpPr txBox="1"/>
          <p:nvPr/>
        </p:nvSpPr>
        <p:spPr>
          <a:xfrm>
            <a:off x="8386876" y="2670048"/>
            <a:ext cx="2753258" cy="365760"/>
          </a:xfrm>
          <a:prstGeom prst="rect">
            <a:avLst/>
          </a:prstGeom>
          <a:noFill/>
        </p:spPr>
        <p:txBody>
          <a:bodyPr wrap="square" anchor="t" lIns="0" rIns="0" tIns="0" bIns="0">
            <a:spAutoFit/>
          </a:bodyPr>
          <a:lstStyle/>
          <a:p>
            <a:pPr algn="l">
              <a:lnSpc>
                <a:spcPct val="115000"/>
              </a:lnSpc>
            </a:pPr>
            <a:r>
              <a:rPr sz="1400" b="1">
                <a:solidFill>
                  <a:srgbClr val="0F172A"/>
                </a:solidFill>
                <a:latin typeface="Segoe UI Semibold"/>
              </a:rPr>
              <a:t>potret kondisi keluarga</a:t>
            </a:r>
          </a:p>
        </p:txBody>
      </p:sp>
      <p:sp>
        <p:nvSpPr>
          <p:cNvPr id="16" name="TextBox 15"/>
          <p:cNvSpPr txBox="1"/>
          <p:nvPr/>
        </p:nvSpPr>
        <p:spPr>
          <a:xfrm>
            <a:off x="8386876" y="3081528"/>
            <a:ext cx="2753258" cy="822960"/>
          </a:xfrm>
          <a:prstGeom prst="rect">
            <a:avLst/>
          </a:prstGeom>
          <a:noFill/>
        </p:spPr>
        <p:txBody>
          <a:bodyPr wrap="square" anchor="t" lIns="0" rIns="0" tIns="0" bIns="0">
            <a:spAutoFit/>
          </a:bodyPr>
          <a:lstStyle/>
          <a:p>
            <a:pPr algn="l">
              <a:lnSpc>
                <a:spcPct val="125000"/>
              </a:lnSpc>
            </a:pPr>
            <a:r>
              <a:rPr sz="1100" b="0">
                <a:solidFill>
                  <a:srgbClr val="475569"/>
                </a:solidFill>
                <a:latin typeface="Segoe UI"/>
              </a:rPr>
              <a:t>40.000 keluarga diikuti selama enam gelombang.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1E5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07040" cy="640080"/>
          </a:xfrm>
          <a:prstGeom prst="rect">
            <a:avLst/>
          </a:prstGeom>
          <a:noFill/>
        </p:spPr>
        <p:txBody>
          <a:bodyPr wrap="square" anchor="t" lIns="0" rIns="0" tIns="0" bIns="0">
            <a:spAutoFit/>
          </a:bodyPr>
          <a:lstStyle/>
          <a:p>
            <a:pPr algn="l">
              <a:lnSpc>
                <a:spcPct val="115000"/>
              </a:lnSpc>
            </a:pPr>
            <a:r>
              <a:rPr sz="2800" b="1">
                <a:solidFill>
                  <a:srgbClr val="1E5A8F"/>
                </a:solidFill>
                <a:latin typeface="Segoe UI Semibold"/>
              </a:rPr>
              <a:t>Yang belum bisa saya buktikan</a:t>
            </a:r>
          </a:p>
        </p:txBody>
      </p:sp>
      <p:sp>
        <p:nvSpPr>
          <p:cNvPr id="4" name="TextBox 3"/>
          <p:cNvSpPr txBox="1"/>
          <p:nvPr/>
        </p:nvSpPr>
        <p:spPr>
          <a:xfrm>
            <a:off x="777240" y="1207008"/>
            <a:ext cx="10607040" cy="457200"/>
          </a:xfrm>
          <a:prstGeom prst="rect">
            <a:avLst/>
          </a:prstGeom>
          <a:noFill/>
        </p:spPr>
        <p:txBody>
          <a:bodyPr wrap="square" anchor="t" lIns="0" rIns="0" tIns="0" bIns="0">
            <a:spAutoFit/>
          </a:bodyPr>
          <a:lstStyle/>
          <a:p>
            <a:pPr algn="l">
              <a:lnSpc>
                <a:spcPct val="115000"/>
              </a:lnSpc>
            </a:pPr>
            <a:r>
              <a:rPr sz="1400" b="0">
                <a:solidFill>
                  <a:srgbClr val="475569"/>
                </a:solidFill>
                <a:latin typeface="Segoe UI"/>
              </a:rPr>
              <a:t>Juri yang berpengalaman akan menemukan batas ini dengan atau tanpa saya beri tahu.</a:t>
            </a:r>
          </a:p>
        </p:txBody>
      </p:sp>
      <p:sp>
        <p:nvSpPr>
          <p:cNvPr id="5" name="TextBox 4"/>
          <p:cNvSpPr txBox="1"/>
          <p:nvPr/>
        </p:nvSpPr>
        <p:spPr>
          <a:xfrm>
            <a:off x="11094415" y="6355080"/>
            <a:ext cx="548640" cy="274320"/>
          </a:xfrm>
          <a:prstGeom prst="rect">
            <a:avLst/>
          </a:prstGeom>
          <a:noFill/>
        </p:spPr>
        <p:txBody>
          <a:bodyPr wrap="square" anchor="t" lIns="0" rIns="0" tIns="0" bIns="0">
            <a:spAutoFit/>
          </a:bodyPr>
          <a:lstStyle/>
          <a:p>
            <a:pPr algn="r">
              <a:lnSpc>
                <a:spcPct val="115000"/>
              </a:lnSpc>
            </a:pPr>
            <a:r>
              <a:rPr sz="1000" b="0">
                <a:solidFill>
                  <a:srgbClr val="94A3B8"/>
                </a:solidFill>
                <a:latin typeface="Segoe UI"/>
              </a:rPr>
              <a:t>20</a:t>
            </a:r>
          </a:p>
        </p:txBody>
      </p:sp>
      <p:sp>
        <p:nvSpPr>
          <p:cNvPr id="6" name="Oval 5"/>
          <p:cNvSpPr/>
          <p:nvPr/>
        </p:nvSpPr>
        <p:spPr>
          <a:xfrm>
            <a:off x="777240" y="1947672"/>
            <a:ext cx="118872" cy="118872"/>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24712" y="1828800"/>
            <a:ext cx="10271455" cy="548640"/>
          </a:xfrm>
          <a:prstGeom prst="rect">
            <a:avLst/>
          </a:prstGeom>
          <a:noFill/>
        </p:spPr>
        <p:txBody>
          <a:bodyPr wrap="square" anchor="t" lIns="0" rIns="0" tIns="0" bIns="0">
            <a:spAutoFit/>
          </a:bodyPr>
          <a:lstStyle/>
          <a:p>
            <a:pPr algn="l">
              <a:lnSpc>
                <a:spcPct val="125000"/>
              </a:lnSpc>
            </a:pPr>
            <a:r>
              <a:rPr sz="1500" b="1">
                <a:solidFill>
                  <a:srgbClr val="0F172A"/>
                </a:solidFill>
                <a:latin typeface="Segoe UI Semibold"/>
              </a:rPr>
              <a:t>Belum diuji petugas sungguhan.</a:t>
            </a:r>
            <a:r>
              <a:rPr sz="1500" b="0">
                <a:solidFill>
                  <a:srgbClr val="0F172A"/>
                </a:solidFill>
                <a:latin typeface="Segoe UI"/>
              </a:rPr>
              <a:t> Ini prototipe berfungsi penuh yang diuji secara teknis, bukan sistem yang sudah dipakai di lapangan.</a:t>
            </a:r>
          </a:p>
        </p:txBody>
      </p:sp>
      <p:sp>
        <p:nvSpPr>
          <p:cNvPr id="8" name="Oval 7"/>
          <p:cNvSpPr/>
          <p:nvPr/>
        </p:nvSpPr>
        <p:spPr>
          <a:xfrm>
            <a:off x="777240" y="2807970"/>
            <a:ext cx="118872" cy="118872"/>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24712" y="2689098"/>
            <a:ext cx="10271455" cy="548640"/>
          </a:xfrm>
          <a:prstGeom prst="rect">
            <a:avLst/>
          </a:prstGeom>
          <a:noFill/>
        </p:spPr>
        <p:txBody>
          <a:bodyPr wrap="square" anchor="t" lIns="0" rIns="0" tIns="0" bIns="0">
            <a:spAutoFit/>
          </a:bodyPr>
          <a:lstStyle/>
          <a:p>
            <a:pPr algn="l">
              <a:lnSpc>
                <a:spcPct val="125000"/>
              </a:lnSpc>
            </a:pPr>
            <a:r>
              <a:rPr sz="1500" b="1">
                <a:solidFill>
                  <a:srgbClr val="0F172A"/>
                </a:solidFill>
                <a:latin typeface="Segoe UI Semibold"/>
              </a:rPr>
              <a:t>Datanya sintetis.</a:t>
            </a:r>
            <a:r>
              <a:rPr sz="1500" b="0">
                <a:solidFill>
                  <a:srgbClr val="0F172A"/>
                </a:solidFill>
                <a:latin typeface="Segoe UI"/>
              </a:rPr>
              <a:t> Ketepatan pada data DTSEN yang sesungguhnya — yang jauh lebih berantakan — belum diketahui.</a:t>
            </a:r>
          </a:p>
        </p:txBody>
      </p:sp>
      <p:sp>
        <p:nvSpPr>
          <p:cNvPr id="10" name="Oval 9"/>
          <p:cNvSpPr/>
          <p:nvPr/>
        </p:nvSpPr>
        <p:spPr>
          <a:xfrm>
            <a:off x="777240" y="3668268"/>
            <a:ext cx="118872" cy="118872"/>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24712" y="3549396"/>
            <a:ext cx="10271455" cy="548640"/>
          </a:xfrm>
          <a:prstGeom prst="rect">
            <a:avLst/>
          </a:prstGeom>
          <a:noFill/>
        </p:spPr>
        <p:txBody>
          <a:bodyPr wrap="square" anchor="t" lIns="0" rIns="0" tIns="0" bIns="0">
            <a:spAutoFit/>
          </a:bodyPr>
          <a:lstStyle/>
          <a:p>
            <a:pPr algn="l">
              <a:lnSpc>
                <a:spcPct val="125000"/>
              </a:lnSpc>
            </a:pPr>
            <a:r>
              <a:rPr sz="1500" b="1">
                <a:solidFill>
                  <a:srgbClr val="0F172A"/>
                </a:solidFill>
                <a:latin typeface="Segoe UI Semibold"/>
              </a:rPr>
              <a:t>Belum terhubung</a:t>
            </a:r>
            <a:r>
              <a:rPr sz="1500" b="0">
                <a:solidFill>
                  <a:srgbClr val="0F172A"/>
                </a:solidFill>
                <a:latin typeface="Segoe UI"/>
              </a:rPr>
              <a:t> ke sistem pemerintahan mana pun.</a:t>
            </a:r>
          </a:p>
        </p:txBody>
      </p:sp>
      <p:sp>
        <p:nvSpPr>
          <p:cNvPr id="12" name="Oval 11"/>
          <p:cNvSpPr/>
          <p:nvPr/>
        </p:nvSpPr>
        <p:spPr>
          <a:xfrm>
            <a:off x="777240" y="4290441"/>
            <a:ext cx="118872" cy="118872"/>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24712" y="4171569"/>
            <a:ext cx="10271455" cy="548640"/>
          </a:xfrm>
          <a:prstGeom prst="rect">
            <a:avLst/>
          </a:prstGeom>
          <a:noFill/>
        </p:spPr>
        <p:txBody>
          <a:bodyPr wrap="square" anchor="t" lIns="0" rIns="0" tIns="0" bIns="0">
            <a:spAutoFit/>
          </a:bodyPr>
          <a:lstStyle/>
          <a:p>
            <a:pPr algn="l">
              <a:lnSpc>
                <a:spcPct val="125000"/>
              </a:lnSpc>
            </a:pPr>
            <a:r>
              <a:rPr sz="1500" b="1">
                <a:solidFill>
                  <a:srgbClr val="0F172A"/>
                </a:solidFill>
                <a:latin typeface="Segoe UI Semibold"/>
              </a:rPr>
              <a:t>Belum melalui penilaian dampak perlindungan data pribadi</a:t>
            </a:r>
            <a:r>
              <a:rPr sz="1500" b="0">
                <a:solidFill>
                  <a:srgbClr val="0F172A"/>
                </a:solidFill>
                <a:latin typeface="Segoe UI"/>
              </a:rPr>
              <a:t> secara resmi.</a:t>
            </a:r>
          </a:p>
        </p:txBody>
      </p:sp>
      <p:sp>
        <p:nvSpPr>
          <p:cNvPr id="14" name="Oval 13"/>
          <p:cNvSpPr/>
          <p:nvPr/>
        </p:nvSpPr>
        <p:spPr>
          <a:xfrm>
            <a:off x="777240" y="4912614"/>
            <a:ext cx="118872" cy="118872"/>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24712" y="4793742"/>
            <a:ext cx="10271455" cy="548640"/>
          </a:xfrm>
          <a:prstGeom prst="rect">
            <a:avLst/>
          </a:prstGeom>
          <a:noFill/>
        </p:spPr>
        <p:txBody>
          <a:bodyPr wrap="square" anchor="t" lIns="0" rIns="0" tIns="0" bIns="0">
            <a:spAutoFit/>
          </a:bodyPr>
          <a:lstStyle/>
          <a:p>
            <a:pPr algn="l">
              <a:lnSpc>
                <a:spcPct val="125000"/>
              </a:lnSpc>
            </a:pPr>
            <a:r>
              <a:rPr sz="1500" b="1">
                <a:solidFill>
                  <a:srgbClr val="0F172A"/>
                </a:solidFill>
                <a:latin typeface="Segoe UI Semibold"/>
              </a:rPr>
              <a:t>Model saya pun tidak sempurna.</a:t>
            </a:r>
            <a:r>
              <a:rPr sz="1500" b="0">
                <a:solidFill>
                  <a:srgbClr val="0F172A"/>
                </a:solidFill>
                <a:latin typeface="Segoe UI"/>
              </a:rPr>
              <a:t> Pada keluarga di salindia ketiga, ada satu gelombang ketika skornya justru rendah. Saya menampilkannya, bukan memilih contoh yang lebih rapi.</a:t>
            </a:r>
          </a:p>
        </p:txBody>
      </p:sp>
      <p:sp>
        <p:nvSpPr>
          <p:cNvPr id="16" name="Oval 15"/>
          <p:cNvSpPr/>
          <p:nvPr/>
        </p:nvSpPr>
        <p:spPr>
          <a:xfrm>
            <a:off x="777240" y="5772912"/>
            <a:ext cx="118872" cy="118872"/>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24712" y="5654040"/>
            <a:ext cx="10271455" cy="548640"/>
          </a:xfrm>
          <a:prstGeom prst="rect">
            <a:avLst/>
          </a:prstGeom>
          <a:noFill/>
        </p:spPr>
        <p:txBody>
          <a:bodyPr wrap="square" anchor="t" lIns="0" rIns="0" tIns="0" bIns="0">
            <a:spAutoFit/>
          </a:bodyPr>
          <a:lstStyle/>
          <a:p>
            <a:pPr algn="l">
              <a:lnSpc>
                <a:spcPct val="125000"/>
              </a:lnSpc>
            </a:pPr>
            <a:r>
              <a:rPr sz="1500" b="1">
                <a:solidFill>
                  <a:srgbClr val="0F172A"/>
                </a:solidFill>
                <a:latin typeface="Segoe UI Semibold"/>
              </a:rPr>
              <a:t>Empat titik akhir sudah dibangun namun belum terhubung ke layar</a:t>
            </a:r>
            <a:r>
              <a:rPr sz="1500" b="0">
                <a:solidFill>
                  <a:srgbClr val="0F172A"/>
                </a:solidFill>
                <a:latin typeface="Segoe UI"/>
              </a:rPr>
              <a:t> — penugasan kasus ke OPD, simulasi dana desa, riwayat versi model, dan pohon wilayah. Kesepuluh modul berjalan; sebagian fungsinya masih lewat API.</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1E5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07040" cy="640080"/>
          </a:xfrm>
          <a:prstGeom prst="rect">
            <a:avLst/>
          </a:prstGeom>
          <a:noFill/>
        </p:spPr>
        <p:txBody>
          <a:bodyPr wrap="square" anchor="t" lIns="0" rIns="0" tIns="0" bIns="0">
            <a:spAutoFit/>
          </a:bodyPr>
          <a:lstStyle/>
          <a:p>
            <a:pPr algn="l">
              <a:lnSpc>
                <a:spcPct val="115000"/>
              </a:lnSpc>
            </a:pPr>
            <a:r>
              <a:rPr sz="2800" b="1">
                <a:solidFill>
                  <a:srgbClr val="1E5A8F"/>
                </a:solidFill>
                <a:latin typeface="Segoe UI Semibold"/>
              </a:rPr>
              <a:t>Langkah berikutnya</a:t>
            </a:r>
          </a:p>
        </p:txBody>
      </p:sp>
      <p:sp>
        <p:nvSpPr>
          <p:cNvPr id="4" name="TextBox 3"/>
          <p:cNvSpPr txBox="1"/>
          <p:nvPr/>
        </p:nvSpPr>
        <p:spPr>
          <a:xfrm>
            <a:off x="11094415" y="6355080"/>
            <a:ext cx="548640" cy="274320"/>
          </a:xfrm>
          <a:prstGeom prst="rect">
            <a:avLst/>
          </a:prstGeom>
          <a:noFill/>
        </p:spPr>
        <p:txBody>
          <a:bodyPr wrap="square" anchor="t" lIns="0" rIns="0" tIns="0" bIns="0">
            <a:spAutoFit/>
          </a:bodyPr>
          <a:lstStyle/>
          <a:p>
            <a:pPr algn="r">
              <a:lnSpc>
                <a:spcPct val="115000"/>
              </a:lnSpc>
            </a:pPr>
            <a:r>
              <a:rPr sz="1000" b="0">
                <a:solidFill>
                  <a:srgbClr val="94A3B8"/>
                </a:solidFill>
                <a:latin typeface="Segoe UI"/>
              </a:rPr>
              <a:t>21</a:t>
            </a:r>
          </a:p>
        </p:txBody>
      </p:sp>
      <p:sp>
        <p:nvSpPr>
          <p:cNvPr id="5" name="Oval 4"/>
          <p:cNvSpPr/>
          <p:nvPr/>
        </p:nvSpPr>
        <p:spPr>
          <a:xfrm>
            <a:off x="777240" y="1417320"/>
            <a:ext cx="118872" cy="118872"/>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4712" y="1298448"/>
            <a:ext cx="10271455" cy="548640"/>
          </a:xfrm>
          <a:prstGeom prst="rect">
            <a:avLst/>
          </a:prstGeom>
          <a:noFill/>
        </p:spPr>
        <p:txBody>
          <a:bodyPr wrap="square" anchor="t" lIns="0" rIns="0" tIns="0" bIns="0">
            <a:spAutoFit/>
          </a:bodyPr>
          <a:lstStyle/>
          <a:p>
            <a:pPr algn="l">
              <a:lnSpc>
                <a:spcPct val="125000"/>
              </a:lnSpc>
            </a:pPr>
            <a:r>
              <a:rPr sz="1700" b="1">
                <a:solidFill>
                  <a:srgbClr val="0F172A"/>
                </a:solidFill>
                <a:latin typeface="Segoe UI Semibold"/>
              </a:rPr>
              <a:t>Uji coba terbatas bersama Dinas Sosial Kabupaten Pringsewu</a:t>
            </a:r>
            <a:r>
              <a:rPr sz="1700" b="0">
                <a:solidFill>
                  <a:srgbClr val="0F172A"/>
                </a:solidFill>
                <a:latin typeface="Segoe UI"/>
              </a:rPr>
              <a:t> — lima petugas, satu kecamatan, satu putaran verifikasi.</a:t>
            </a:r>
          </a:p>
        </p:txBody>
      </p:sp>
      <p:sp>
        <p:nvSpPr>
          <p:cNvPr id="7" name="Oval 6"/>
          <p:cNvSpPr/>
          <p:nvPr/>
        </p:nvSpPr>
        <p:spPr>
          <a:xfrm>
            <a:off x="777240" y="2341118"/>
            <a:ext cx="118872" cy="118872"/>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24712" y="2222246"/>
            <a:ext cx="10271455" cy="548640"/>
          </a:xfrm>
          <a:prstGeom prst="rect">
            <a:avLst/>
          </a:prstGeom>
          <a:noFill/>
        </p:spPr>
        <p:txBody>
          <a:bodyPr wrap="square" anchor="t" lIns="0" rIns="0" tIns="0" bIns="0">
            <a:spAutoFit/>
          </a:bodyPr>
          <a:lstStyle/>
          <a:p>
            <a:pPr algn="l">
              <a:lnSpc>
                <a:spcPct val="125000"/>
              </a:lnSpc>
            </a:pPr>
            <a:r>
              <a:rPr sz="1700" b="1">
                <a:solidFill>
                  <a:srgbClr val="0F172A"/>
                </a:solidFill>
                <a:latin typeface="Segoe UI Semibold"/>
              </a:rPr>
              <a:t>Penerapan pada data DTSEN</a:t>
            </a:r>
            <a:r>
              <a:rPr sz="1700" b="0">
                <a:solidFill>
                  <a:srgbClr val="0F172A"/>
                </a:solidFill>
                <a:latin typeface="Segoe UI"/>
              </a:rPr>
              <a:t> dengan izin resmi dan penilaian dampak perlindungan data.</a:t>
            </a:r>
          </a:p>
        </p:txBody>
      </p:sp>
      <p:sp>
        <p:nvSpPr>
          <p:cNvPr id="9" name="Oval 8"/>
          <p:cNvSpPr/>
          <p:nvPr/>
        </p:nvSpPr>
        <p:spPr>
          <a:xfrm>
            <a:off x="777240" y="2995041"/>
            <a:ext cx="118872" cy="118872"/>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4712" y="2876169"/>
            <a:ext cx="10271455" cy="548640"/>
          </a:xfrm>
          <a:prstGeom prst="rect">
            <a:avLst/>
          </a:prstGeom>
          <a:noFill/>
        </p:spPr>
        <p:txBody>
          <a:bodyPr wrap="square" anchor="t" lIns="0" rIns="0" tIns="0" bIns="0">
            <a:spAutoFit/>
          </a:bodyPr>
          <a:lstStyle/>
          <a:p>
            <a:pPr algn="l">
              <a:lnSpc>
                <a:spcPct val="125000"/>
              </a:lnSpc>
            </a:pPr>
            <a:r>
              <a:rPr sz="1700" b="1">
                <a:solidFill>
                  <a:srgbClr val="0F172A"/>
                </a:solidFill>
                <a:latin typeface="Segoe UI Semibold"/>
              </a:rPr>
              <a:t>Penyesuaian dari temuan petugas</a:t>
            </a:r>
            <a:r>
              <a:rPr sz="1700" b="0">
                <a:solidFill>
                  <a:srgbClr val="0F172A"/>
                </a:solidFill>
                <a:latin typeface="Segoe UI"/>
              </a:rPr>
              <a:t> — terutama apakah penjelasan per keluarga benar-benar berguna di lapangan, atau justru mengganggu.</a:t>
            </a:r>
          </a:p>
        </p:txBody>
      </p:sp>
      <p:sp>
        <p:nvSpPr>
          <p:cNvPr id="11" name="Oval 10"/>
          <p:cNvSpPr/>
          <p:nvPr/>
        </p:nvSpPr>
        <p:spPr>
          <a:xfrm>
            <a:off x="777240" y="3918839"/>
            <a:ext cx="118872" cy="118872"/>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24712" y="3799967"/>
            <a:ext cx="10271455" cy="548640"/>
          </a:xfrm>
          <a:prstGeom prst="rect">
            <a:avLst/>
          </a:prstGeom>
          <a:noFill/>
        </p:spPr>
        <p:txBody>
          <a:bodyPr wrap="square" anchor="t" lIns="0" rIns="0" tIns="0" bIns="0">
            <a:spAutoFit/>
          </a:bodyPr>
          <a:lstStyle/>
          <a:p>
            <a:pPr algn="l">
              <a:lnSpc>
                <a:spcPct val="125000"/>
              </a:lnSpc>
            </a:pPr>
            <a:r>
              <a:rPr sz="1700" b="1">
                <a:solidFill>
                  <a:srgbClr val="0F172A"/>
                </a:solidFill>
                <a:latin typeface="Segoe UI Semibold"/>
              </a:rPr>
              <a:t>Penerapan bertahap</a:t>
            </a:r>
            <a:r>
              <a:rPr sz="1700" b="0">
                <a:solidFill>
                  <a:srgbClr val="0F172A"/>
                </a:solidFill>
                <a:latin typeface="Segoe UI"/>
              </a:rPr>
              <a:t> ke kecamatan lain bila uji coba menunjukkan manfaat yang nyata.</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E5A8F"/>
        </a:solidFill>
        <a:effectLst/>
      </p:bgPr>
    </p:bg>
    <p:spTree>
      <p:nvGrpSpPr>
        <p:cNvPr id="1" name=""/>
        <p:cNvGrpSpPr/>
        <p:nvPr/>
      </p:nvGrpSpPr>
      <p:grpSpPr/>
      <p:sp>
        <p:nvSpPr>
          <p:cNvPr id="2" name="TextBox 1"/>
          <p:cNvSpPr txBox="1"/>
          <p:nvPr/>
        </p:nvSpPr>
        <p:spPr>
          <a:xfrm>
            <a:off x="1280160" y="2103120"/>
            <a:ext cx="9601200" cy="2377440"/>
          </a:xfrm>
          <a:prstGeom prst="rect">
            <a:avLst/>
          </a:prstGeom>
          <a:noFill/>
        </p:spPr>
        <p:txBody>
          <a:bodyPr wrap="square" anchor="t" lIns="0" rIns="0" tIns="0" bIns="0">
            <a:spAutoFit/>
          </a:bodyPr>
          <a:lstStyle/>
          <a:p>
            <a:pPr algn="l">
              <a:lnSpc>
                <a:spcPct val="130000"/>
              </a:lnSpc>
            </a:pPr>
            <a:r>
              <a:rPr sz="3000" b="1">
                <a:solidFill>
                  <a:srgbClr val="FFFFFF"/>
                </a:solidFill>
                <a:latin typeface="Segoe UI Semibold"/>
              </a:rPr>
              <a:t>Kesalahan memasukkan orang yang tidak berhak</a:t>
            </a:r>
          </a:p>
          <a:p>
            <a:pPr algn="l">
              <a:lnSpc>
                <a:spcPct val="130000"/>
              </a:lnSpc>
            </a:pPr>
            <a:r>
              <a:rPr sz="3000" b="1">
                <a:solidFill>
                  <a:srgbClr val="FFFFFF"/>
                </a:solidFill>
                <a:latin typeface="Segoe UI Semibold"/>
              </a:rPr>
              <a:t>membebani anggaran — dan itu terlihat.</a:t>
            </a:r>
          </a:p>
          <a:p>
            <a:pPr algn="l">
              <a:lnSpc>
                <a:spcPct val="130000"/>
              </a:lnSpc>
            </a:pPr>
            <a:r>
              <a:rPr sz="3000" b="1">
                <a:solidFill>
                  <a:srgbClr val="FFFFFF"/>
                </a:solidFill>
                <a:latin typeface="Segoe UI Semibold"/>
              </a:rPr>
              <a:t/>
            </a:r>
          </a:p>
          <a:p>
            <a:pPr algn="l">
              <a:lnSpc>
                <a:spcPct val="130000"/>
              </a:lnSpc>
            </a:pPr>
            <a:r>
              <a:rPr sz="3000" b="1">
                <a:solidFill>
                  <a:srgbClr val="FFFFFF"/>
                </a:solidFill>
                <a:latin typeface="Segoe UI Semibold"/>
              </a:rPr>
              <a:t>Kesalahan melewatkan orang yang berhak</a:t>
            </a:r>
          </a:p>
          <a:p>
            <a:pPr algn="l">
              <a:lnSpc>
                <a:spcPct val="130000"/>
              </a:lnSpc>
            </a:pPr>
            <a:r>
              <a:rPr sz="3000" b="1">
                <a:solidFill>
                  <a:srgbClr val="FFFFFF"/>
                </a:solidFill>
                <a:latin typeface="Segoe UI Semibold"/>
              </a:rPr>
              <a:t>membebani keluarga itu sendiri — dan mereka</a:t>
            </a:r>
          </a:p>
          <a:p>
            <a:pPr algn="l">
              <a:lnSpc>
                <a:spcPct val="130000"/>
              </a:lnSpc>
            </a:pPr>
            <a:r>
              <a:rPr sz="3000" b="1">
                <a:solidFill>
                  <a:srgbClr val="FFFFFF"/>
                </a:solidFill>
                <a:latin typeface="Segoe UI Semibold"/>
              </a:rPr>
              <a:t>tidak muncul di daftar mana pun untuk mengeluh.</a:t>
            </a:r>
          </a:p>
        </p:txBody>
      </p:sp>
      <p:sp>
        <p:nvSpPr>
          <p:cNvPr id="3" name="TextBox 2"/>
          <p:cNvSpPr txBox="1"/>
          <p:nvPr/>
        </p:nvSpPr>
        <p:spPr>
          <a:xfrm>
            <a:off x="1280160" y="4937760"/>
            <a:ext cx="9601200" cy="457200"/>
          </a:xfrm>
          <a:prstGeom prst="rect">
            <a:avLst/>
          </a:prstGeom>
          <a:noFill/>
        </p:spPr>
        <p:txBody>
          <a:bodyPr wrap="square" anchor="t" lIns="0" rIns="0" tIns="0" bIns="0">
            <a:spAutoFit/>
          </a:bodyPr>
          <a:lstStyle/>
          <a:p>
            <a:pPr algn="l">
              <a:lnSpc>
                <a:spcPct val="115000"/>
              </a:lnSpc>
            </a:pPr>
            <a:r>
              <a:rPr sz="1400" b="0">
                <a:solidFill>
                  <a:srgbClr val="C7DAEE"/>
                </a:solidFill>
                <a:latin typeface="Segoe UI"/>
              </a:rPr>
              <a:t>NADI dibangun untuk kesalahan yang kedua.</a:t>
            </a:r>
          </a:p>
        </p:txBody>
      </p:sp>
      <p:sp>
        <p:nvSpPr>
          <p:cNvPr id="4" name="TextBox 3"/>
          <p:cNvSpPr txBox="1"/>
          <p:nvPr/>
        </p:nvSpPr>
        <p:spPr>
          <a:xfrm>
            <a:off x="11094415" y="6355080"/>
            <a:ext cx="548640" cy="274320"/>
          </a:xfrm>
          <a:prstGeom prst="rect">
            <a:avLst/>
          </a:prstGeom>
          <a:noFill/>
        </p:spPr>
        <p:txBody>
          <a:bodyPr wrap="square" anchor="t" lIns="0" rIns="0" tIns="0" bIns="0">
            <a:spAutoFit/>
          </a:bodyPr>
          <a:lstStyle/>
          <a:p>
            <a:pPr algn="r">
              <a:lnSpc>
                <a:spcPct val="115000"/>
              </a:lnSpc>
            </a:pPr>
            <a:r>
              <a:rPr sz="1000" b="0">
                <a:solidFill>
                  <a:srgbClr val="94A3B8"/>
                </a:solidFill>
                <a:latin typeface="Segoe UI"/>
              </a:rPr>
              <a:t>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